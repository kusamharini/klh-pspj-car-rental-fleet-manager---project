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embeddedFontLst>
    <p:embeddedFont>
      <p:font typeface="Sora Light"/>
      <p:regular r:id="rId201314"/>
    </p:embeddedFont>
    <p:embeddedFont>
      <p:font typeface="Sora SemiBold"/>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1.png"/><Relationship Id="rId4" Type="http://schemas.openxmlformats.org/officeDocument/2006/relationships/image" Target="../media/image-17-2.svg"/><Relationship Id="rId5" Type="http://schemas.openxmlformats.org/officeDocument/2006/relationships/image" Target="../media/image-17-1.png"/><Relationship Id="rId6" Type="http://schemas.openxmlformats.org/officeDocument/2006/relationships/image" Target="../media/image-17-2.svg"/><Relationship Id="rId7" Type="http://schemas.openxmlformats.org/officeDocument/2006/relationships/image" Target="../media/image-17-1.png"/><Relationship Id="rId8" Type="http://schemas.openxmlformats.org/officeDocument/2006/relationships/image" Target="../media/image-17-2.svg"/><Relationship Id="rId9" Type="http://schemas.openxmlformats.org/officeDocument/2006/relationships/image" Target="../media/image-17-1.png"/><Relationship Id="rId10" Type="http://schemas.openxmlformats.org/officeDocument/2006/relationships/image" Target="../media/image-17-2.svg"/><Relationship Id="rId11" Type="http://schemas.openxmlformats.org/officeDocument/2006/relationships/image" Target="../media/image-17-1.png"/><Relationship Id="rId12" Type="http://schemas.openxmlformats.org/officeDocument/2006/relationships/image" Target="../media/image-17-2.svg"/><Relationship Id="rId13" Type="http://schemas.openxmlformats.org/officeDocument/2006/relationships/image" Target="../media/image-17-13.png"/><Relationship Id="rId14" Type="http://schemas.openxmlformats.org/officeDocument/2006/relationships/slideLayout" Target="../slideLayouts/slideLayout2.xml"/><Relationship Id="rId1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31859" y="1686775"/>
            <a:ext cx="10927878" cy="519609"/>
          </a:xfrm>
          <a:prstGeom prst="rect">
            <a:avLst/>
          </a:prstGeom>
          <a:noFill/>
          <a:ln/>
        </p:spPr>
        <p:txBody>
          <a:bodyPr wrap="none" lIns="0" tIns="0" rIns="0" bIns="0" rtlCol="0" anchor="t"/>
          <a:lstStyle/>
          <a:p>
            <a:pPr algn="ctr" indent="0" marL="0">
              <a:lnSpc>
                <a:spcPct val="104000"/>
              </a:lnSpc>
              <a:buNone/>
            </a:pPr>
            <a:r>
              <a:rPr lang="en-US" sz="3250" dirty="0">
                <a:solidFill>
                  <a:srgbClr val="1F1E1E"/>
                </a:solidFill>
                <a:latin typeface="Sora SemiBold" pitchFamily="34" charset="0"/>
                <a:ea typeface="Sora SemiBold" pitchFamily="34" charset="-122"/>
                <a:cs typeface="Sora SemiBold" pitchFamily="34" charset="-120"/>
              </a:rPr>
              <a:t>Car Rental Fleet Manager</a:t>
            </a:r>
            <a:endParaRPr lang="en-US" sz="3250" dirty="0"/>
          </a:p>
        </p:txBody>
      </p:sp>
      <p:sp>
        <p:nvSpPr>
          <p:cNvPr id="3" name="Text 1"/>
          <p:cNvSpPr/>
          <p:nvPr/>
        </p:nvSpPr>
        <p:spPr>
          <a:xfrm>
            <a:off x="631859" y="2264597"/>
            <a:ext cx="10927878" cy="259755"/>
          </a:xfrm>
          <a:prstGeom prst="rect">
            <a:avLst/>
          </a:prstGeom>
          <a:noFill/>
          <a:ln/>
        </p:spPr>
        <p:txBody>
          <a:bodyPr wrap="none" lIns="0" tIns="0" rIns="0" bIns="0" rtlCol="0" anchor="t"/>
          <a:lstStyle/>
          <a:p>
            <a:pPr algn="ctr"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Java Programming Project</a:t>
            </a:r>
            <a:endParaRPr lang="en-US" sz="1600" dirty="0"/>
          </a:p>
        </p:txBody>
      </p:sp>
      <p:sp>
        <p:nvSpPr>
          <p:cNvPr id="4" name="Shape 2"/>
          <p:cNvSpPr/>
          <p:nvPr/>
        </p:nvSpPr>
        <p:spPr>
          <a:xfrm>
            <a:off x="631908" y="2792710"/>
            <a:ext cx="10927878" cy="19050"/>
          </a:xfrm>
          <a:prstGeom prst="roundRect">
            <a:avLst>
              <a:gd name="adj" fmla="val 49999"/>
            </a:avLst>
          </a:prstGeom>
          <a:solidFill>
            <a:srgbClr val="3B3535">
              <a:alpha val="50000"/>
            </a:srgbClr>
          </a:solidFill>
          <a:ln/>
        </p:spPr>
      </p:sp>
      <p:sp>
        <p:nvSpPr>
          <p:cNvPr id="5" name="Shape 3"/>
          <p:cNvSpPr/>
          <p:nvPr/>
        </p:nvSpPr>
        <p:spPr>
          <a:xfrm>
            <a:off x="518207" y="3028950"/>
            <a:ext cx="5498665" cy="2155230"/>
          </a:xfrm>
          <a:prstGeom prst="roundRect">
            <a:avLst>
              <a:gd name="adj" fmla="val 5278"/>
            </a:avLst>
          </a:prstGeom>
          <a:solidFill>
            <a:srgbClr val="C7A2AC"/>
          </a:solidFill>
          <a:ln/>
        </p:spPr>
      </p:sp>
      <p:sp>
        <p:nvSpPr>
          <p:cNvPr id="6" name="Text 4"/>
          <p:cNvSpPr/>
          <p:nvPr/>
        </p:nvSpPr>
        <p:spPr>
          <a:xfrm>
            <a:off x="676159" y="3194971"/>
            <a:ext cx="5182760"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Student Details</a:t>
            </a:r>
            <a:endParaRPr lang="en-US" sz="1600" dirty="0"/>
          </a:p>
        </p:txBody>
      </p:sp>
      <p:sp>
        <p:nvSpPr>
          <p:cNvPr id="7" name="Text 5"/>
          <p:cNvSpPr/>
          <p:nvPr/>
        </p:nvSpPr>
        <p:spPr>
          <a:xfrm>
            <a:off x="676159" y="3604617"/>
            <a:ext cx="5182760" cy="1437382"/>
          </a:xfrm>
          <a:prstGeom prst="rect">
            <a:avLst/>
          </a:prstGeom>
          <a:noFill/>
          <a:ln/>
        </p:spPr>
        <p:txBody>
          <a:bodyPr wrap="square" lIns="0" tIns="0" rIns="0" bIns="0" rtlCol="0" anchor="t"/>
          <a:lstStyle/>
          <a:p>
            <a:pPr algn="l" indent="0" marL="0">
              <a:lnSpc>
                <a:spcPct val="133000"/>
              </a:lnSpc>
              <a:spcAft>
                <a:spcPts val="1100"/>
              </a:spcAft>
              <a:buNone/>
            </a:pPr>
            <a:r>
              <a:rPr lang="en-US" sz="1200" dirty="0">
                <a:solidFill>
                  <a:srgbClr val="000000"/>
                </a:solidFill>
                <a:latin typeface="Sora Light" pitchFamily="34" charset="0"/>
                <a:ea typeface="Sora Light" pitchFamily="34" charset="-122"/>
                <a:cs typeface="Sora Light" pitchFamily="34" charset="-120"/>
              </a:rPr>
              <a:t>Student Name: </a:t>
            </a:r>
            <a:pPr algn="l" indent="0" marL="0">
              <a:lnSpc>
                <a:spcPct val="133000"/>
              </a:lnSpc>
              <a:spcAft>
                <a:spcPts val="1100"/>
              </a:spcAft>
              <a:buNone/>
            </a:pPr>
            <a:r>
              <a:rPr lang="en-US" sz="1200" dirty="0">
                <a:solidFill>
                  <a:srgbClr val="FFFFFF"/>
                </a:solidFill>
                <a:latin typeface="Sora Light" pitchFamily="34" charset="0"/>
                <a:ea typeface="Sora Light" pitchFamily="34" charset="-122"/>
                <a:cs typeface="Sora Light" pitchFamily="34" charset="-120"/>
              </a:rPr>
              <a:t>Neha Siddamsetty</a:t>
            </a:r>
            <a:endParaRPr lang="en-US" sz="1200" dirty="0"/>
          </a:p>
          <a:p>
            <a:pPr algn="l" indent="0" marL="0">
              <a:lnSpc>
                <a:spcPct val="133000"/>
              </a:lnSpc>
              <a:spcAft>
                <a:spcPts val="1100"/>
              </a:spcAft>
              <a:buNone/>
            </a:pPr>
            <a:r>
              <a:rPr lang="en-US" sz="1200" dirty="0">
                <a:solidFill>
                  <a:srgbClr val="000000"/>
                </a:solidFill>
                <a:latin typeface="Sora Light" pitchFamily="34" charset="0"/>
                <a:ea typeface="Sora Light" pitchFamily="34" charset="-122"/>
                <a:cs typeface="Sora Light" pitchFamily="34" charset="-120"/>
              </a:rPr>
              <a:t>Roll Number: </a:t>
            </a:r>
            <a:pPr algn="l" indent="0" marL="0">
              <a:lnSpc>
                <a:spcPct val="133000"/>
              </a:lnSpc>
              <a:spcAft>
                <a:spcPts val="1100"/>
              </a:spcAft>
              <a:buNone/>
            </a:pPr>
            <a:r>
              <a:rPr lang="en-US" sz="1200" dirty="0">
                <a:solidFill>
                  <a:srgbClr val="FFFFFF"/>
                </a:solidFill>
                <a:latin typeface="Sora Light" pitchFamily="34" charset="0"/>
                <a:ea typeface="Sora Light" pitchFamily="34" charset="-122"/>
                <a:cs typeface="Sora Light" pitchFamily="34" charset="-120"/>
              </a:rPr>
              <a:t>2620030017</a:t>
            </a:r>
            <a:endParaRPr lang="en-US" sz="1200" dirty="0"/>
          </a:p>
          <a:p>
            <a:pPr algn="l" indent="0" marL="0">
              <a:lnSpc>
                <a:spcPct val="133000"/>
              </a:lnSpc>
              <a:spcAft>
                <a:spcPts val="1100"/>
              </a:spcAft>
              <a:buNone/>
            </a:pPr>
            <a:r>
              <a:rPr lang="en-US" sz="1200" dirty="0">
                <a:solidFill>
                  <a:srgbClr val="000000"/>
                </a:solidFill>
                <a:latin typeface="Sora Light" pitchFamily="34" charset="0"/>
                <a:ea typeface="Sora Light" pitchFamily="34" charset="-122"/>
                <a:cs typeface="Sora Light" pitchFamily="34" charset="-120"/>
              </a:rPr>
              <a:t>Section :</a:t>
            </a:r>
            <a:pPr algn="l" indent="0" marL="0">
              <a:lnSpc>
                <a:spcPct val="133000"/>
              </a:lnSpc>
              <a:spcAft>
                <a:spcPts val="1100"/>
              </a:spcAft>
              <a:buNone/>
            </a:pPr>
            <a:r>
              <a:rPr lang="en-US" sz="1200" dirty="0">
                <a:solidFill>
                  <a:srgbClr val="FFFFFF"/>
                </a:solidFill>
                <a:latin typeface="Sora Light" pitchFamily="34" charset="0"/>
                <a:ea typeface="Sora Light" pitchFamily="34" charset="-122"/>
                <a:cs typeface="Sora Light" pitchFamily="34" charset="-120"/>
              </a:rPr>
              <a:t>13</a:t>
            </a:r>
            <a:endParaRPr lang="en-US" sz="1200" dirty="0"/>
          </a:p>
          <a:p>
            <a:pPr algn="l" indent="0" marL="0">
              <a:lnSpc>
                <a:spcPct val="133000"/>
              </a:lnSpc>
              <a:buNone/>
            </a:pPr>
            <a:r>
              <a:rPr lang="en-US" sz="1200" dirty="0">
                <a:solidFill>
                  <a:srgbClr val="000000"/>
                </a:solidFill>
                <a:latin typeface="Sora Light" pitchFamily="34" charset="0"/>
                <a:ea typeface="Sora Light" pitchFamily="34" charset="-122"/>
                <a:cs typeface="Sora Light" pitchFamily="34" charset="-120"/>
              </a:rPr>
              <a:t>Faculty Name: _______________</a:t>
            </a:r>
            <a:endParaRPr lang="en-US" sz="1200" dirty="0"/>
          </a:p>
        </p:txBody>
      </p:sp>
      <p:sp>
        <p:nvSpPr>
          <p:cNvPr id="8" name="Text 6"/>
          <p:cNvSpPr/>
          <p:nvPr/>
        </p:nvSpPr>
        <p:spPr>
          <a:xfrm>
            <a:off x="6294875" y="3194971"/>
            <a:ext cx="5271261"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Project Overview</a:t>
            </a:r>
            <a:endParaRPr lang="en-US" sz="1600" dirty="0"/>
          </a:p>
        </p:txBody>
      </p:sp>
      <p:sp>
        <p:nvSpPr>
          <p:cNvPr id="9" name="Text 7"/>
          <p:cNvSpPr/>
          <p:nvPr/>
        </p:nvSpPr>
        <p:spPr>
          <a:xfrm>
            <a:off x="6294875" y="3604617"/>
            <a:ext cx="5271261" cy="75813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3B3535"/>
                </a:solidFill>
                <a:latin typeface="Sora Light" pitchFamily="34" charset="0"/>
                <a:ea typeface="Sora Light" pitchFamily="34" charset="-122"/>
                <a:cs typeface="Sora Light" pitchFamily="34" charset="-120"/>
              </a:rPr>
              <a:t>A Java-based console application demonstrating core programming concepts through a practical car rental management scenario.</a:t>
            </a:r>
            <a:endParaRPr lang="en-US" sz="1200" dirty="0"/>
          </a:p>
        </p:txBody>
      </p:sp>
      <p:sp>
        <p:nvSpPr>
          <p:cNvPr id="10" name="Shape 8"/>
          <p:cNvSpPr/>
          <p:nvPr/>
        </p:nvSpPr>
        <p:spPr>
          <a:xfrm>
            <a:off x="6294875" y="4540448"/>
            <a:ext cx="1502432" cy="240010"/>
          </a:xfrm>
          <a:prstGeom prst="roundRect">
            <a:avLst>
              <a:gd name="adj" fmla="val 22116"/>
            </a:avLst>
          </a:prstGeom>
          <a:solidFill>
            <a:srgbClr val="F9D2D6"/>
          </a:solidFill>
          <a:ln/>
        </p:spPr>
      </p:sp>
      <p:sp>
        <p:nvSpPr>
          <p:cNvPr id="11" name="Text 9"/>
          <p:cNvSpPr/>
          <p:nvPr/>
        </p:nvSpPr>
        <p:spPr>
          <a:xfrm>
            <a:off x="6389627" y="4592715"/>
            <a:ext cx="1922514" cy="14535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Sora Light" pitchFamily="34" charset="0"/>
                <a:ea typeface="Sora Light" pitchFamily="34" charset="-122"/>
                <a:cs typeface="Sora Light" pitchFamily="34" charset="-120"/>
              </a:rPr>
              <a:t>CO1: FOUNDATIONS</a:t>
            </a:r>
            <a:endParaRPr lang="en-US" sz="950" dirty="0"/>
          </a:p>
        </p:txBody>
      </p:sp>
      <p:sp>
        <p:nvSpPr>
          <p:cNvPr id="12" name="Shape 10"/>
          <p:cNvSpPr/>
          <p:nvPr/>
        </p:nvSpPr>
        <p:spPr>
          <a:xfrm>
            <a:off x="7876283" y="4540448"/>
            <a:ext cx="1597084" cy="240010"/>
          </a:xfrm>
          <a:prstGeom prst="roundRect">
            <a:avLst>
              <a:gd name="adj" fmla="val 22116"/>
            </a:avLst>
          </a:prstGeom>
          <a:noFill/>
          <a:ln w="6350">
            <a:solidFill>
              <a:srgbClr val="DA1B2E"/>
            </a:solidFill>
            <a:prstDash val="solid"/>
          </a:ln>
        </p:spPr>
      </p:sp>
      <p:sp>
        <p:nvSpPr>
          <p:cNvPr id="13" name="Text 11"/>
          <p:cNvSpPr/>
          <p:nvPr/>
        </p:nvSpPr>
        <p:spPr>
          <a:xfrm>
            <a:off x="7971035" y="4592715"/>
            <a:ext cx="2017166" cy="145355"/>
          </a:xfrm>
          <a:prstGeom prst="rect">
            <a:avLst/>
          </a:prstGeom>
          <a:noFill/>
          <a:ln/>
        </p:spPr>
        <p:txBody>
          <a:bodyPr wrap="none" lIns="0" tIns="0" rIns="0" bIns="0" rtlCol="0" anchor="t"/>
          <a:lstStyle/>
          <a:p>
            <a:pPr algn="l" indent="0" marL="0">
              <a:lnSpc>
                <a:spcPct val="96000"/>
              </a:lnSpc>
              <a:buNone/>
            </a:pPr>
            <a:r>
              <a:rPr lang="en-US" sz="950" dirty="0">
                <a:solidFill>
                  <a:srgbClr val="DA1B2E"/>
                </a:solidFill>
                <a:latin typeface="Sora Light" pitchFamily="34" charset="0"/>
                <a:ea typeface="Sora Light" pitchFamily="34" charset="-122"/>
                <a:cs typeface="Sora Light" pitchFamily="34" charset="-120"/>
              </a:rPr>
              <a:t>CO2: CONTROL FLOW</a:t>
            </a:r>
            <a:endParaRPr lang="en-US" sz="950" dirty="0"/>
          </a:p>
        </p:txBody>
      </p:sp>
      <p:sp>
        <p:nvSpPr>
          <p:cNvPr id="14" name="Shape 12"/>
          <p:cNvSpPr/>
          <p:nvPr/>
        </p:nvSpPr>
        <p:spPr>
          <a:xfrm>
            <a:off x="9552344" y="4540448"/>
            <a:ext cx="1868441" cy="240010"/>
          </a:xfrm>
          <a:prstGeom prst="roundRect">
            <a:avLst>
              <a:gd name="adj" fmla="val 22116"/>
            </a:avLst>
          </a:prstGeom>
          <a:noFill/>
          <a:ln w="6350">
            <a:solidFill>
              <a:srgbClr val="DA1B2E"/>
            </a:solidFill>
            <a:prstDash val="solid"/>
          </a:ln>
        </p:spPr>
      </p:sp>
      <p:sp>
        <p:nvSpPr>
          <p:cNvPr id="15" name="Text 13"/>
          <p:cNvSpPr/>
          <p:nvPr/>
        </p:nvSpPr>
        <p:spPr>
          <a:xfrm>
            <a:off x="9647095" y="4592715"/>
            <a:ext cx="2288522" cy="145355"/>
          </a:xfrm>
          <a:prstGeom prst="rect">
            <a:avLst/>
          </a:prstGeom>
          <a:noFill/>
          <a:ln/>
        </p:spPr>
        <p:txBody>
          <a:bodyPr wrap="none" lIns="0" tIns="0" rIns="0" bIns="0" rtlCol="0" anchor="t"/>
          <a:lstStyle/>
          <a:p>
            <a:pPr algn="l" indent="0" marL="0">
              <a:lnSpc>
                <a:spcPct val="96000"/>
              </a:lnSpc>
              <a:buNone/>
            </a:pPr>
            <a:r>
              <a:rPr lang="en-US" sz="950" dirty="0">
                <a:solidFill>
                  <a:srgbClr val="DA1B2E"/>
                </a:solidFill>
                <a:latin typeface="Sora Light" pitchFamily="34" charset="0"/>
                <a:ea typeface="Sora Light" pitchFamily="34" charset="-122"/>
                <a:cs typeface="Sora Light" pitchFamily="34" charset="-120"/>
              </a:rPr>
              <a:t>CO3: METHODS &amp; ARRAYS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1908" y="494684"/>
            <a:ext cx="10927878" cy="462855"/>
          </a:xfrm>
          <a:prstGeom prst="rect">
            <a:avLst/>
          </a:prstGeom>
          <a:noFill/>
          <a:ln/>
        </p:spPr>
        <p:txBody>
          <a:bodyPr wrap="none" lIns="0" tIns="0" rIns="0" bIns="0" rtlCol="0" anchor="t"/>
          <a:lstStyle/>
          <a:p>
            <a:pPr algn="l" indent="0" marL="0">
              <a:lnSpc>
                <a:spcPct val="104000"/>
              </a:lnSpc>
              <a:buNone/>
            </a:pPr>
            <a:r>
              <a:rPr lang="en-US" sz="2900" dirty="0">
                <a:solidFill>
                  <a:srgbClr val="1F1E1E"/>
                </a:solidFill>
                <a:latin typeface="Sora SemiBold" pitchFamily="34" charset="0"/>
                <a:ea typeface="Sora SemiBold" pitchFamily="34" charset="-122"/>
                <a:cs typeface="Sora SemiBold" pitchFamily="34" charset="-120"/>
              </a:rPr>
              <a:t>Abstract</a:t>
            </a:r>
            <a:endParaRPr lang="en-US" sz="2900" dirty="0"/>
          </a:p>
        </p:txBody>
      </p:sp>
      <p:sp>
        <p:nvSpPr>
          <p:cNvPr id="3" name="Text 1"/>
          <p:cNvSpPr/>
          <p:nvPr/>
        </p:nvSpPr>
        <p:spPr>
          <a:xfrm>
            <a:off x="631908" y="1246882"/>
            <a:ext cx="5855843" cy="850900"/>
          </a:xfrm>
          <a:prstGeom prst="rect">
            <a:avLst/>
          </a:prstGeom>
          <a:noFill/>
          <a:ln/>
        </p:spPr>
        <p:txBody>
          <a:bodyPr wrap="square" lIns="0" tIns="0" rIns="0" bIns="0" rtlCol="0" anchor="t">
            <a:normAutofit/>
          </a:bodyPr>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The </a:t>
            </a:r>
            <a:pPr algn="l" indent="0" marL="0">
              <a:lnSpc>
                <a:spcPct val="126000"/>
              </a:lnSpc>
              <a:buNone/>
            </a:pPr>
            <a:r>
              <a:rPr lang="en-US" sz="1100" b="1" dirty="0">
                <a:solidFill>
                  <a:srgbClr val="3B3535"/>
                </a:solidFill>
                <a:latin typeface="Sora SemiBold" pitchFamily="34" charset="0"/>
                <a:ea typeface="Sora SemiBold" pitchFamily="34" charset="-122"/>
                <a:cs typeface="Sora SemiBold" pitchFamily="34" charset="-120"/>
              </a:rPr>
              <a:t>Car Rental Fleet Manager</a:t>
            </a:r>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 is a Java-based application designed to simplify the management of a car rental business. It addresses the problem of manually tracking vehicle availability, rental bookings, and cost calculations — replacing error-prone manual processes with a structured, automated system.</a:t>
            </a:r>
            <a:endParaRPr lang="en-US" sz="1100" dirty="0"/>
          </a:p>
        </p:txBody>
      </p:sp>
      <p:sp>
        <p:nvSpPr>
          <p:cNvPr id="4" name="Text 2"/>
          <p:cNvSpPr/>
          <p:nvPr/>
        </p:nvSpPr>
        <p:spPr>
          <a:xfrm>
            <a:off x="631908" y="2228740"/>
            <a:ext cx="5855843" cy="231378"/>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Sora SemiBold" pitchFamily="34" charset="0"/>
                <a:ea typeface="Sora SemiBold" pitchFamily="34" charset="-122"/>
                <a:cs typeface="Sora SemiBold" pitchFamily="34" charset="-120"/>
              </a:rPr>
              <a:t>Core System Capabilities</a:t>
            </a:r>
            <a:endParaRPr lang="en-US" sz="14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 y="2595364"/>
            <a:ext cx="5855843" cy="888901"/>
          </a:xfrm>
          <a:prstGeom prst="rect">
            <a:avLst/>
          </a:prstGeom>
        </p:spPr>
      </p:pic>
      <p:sp>
        <p:nvSpPr>
          <p:cNvPr id="6" name="Text 3"/>
          <p:cNvSpPr/>
          <p:nvPr/>
        </p:nvSpPr>
        <p:spPr>
          <a:xfrm>
            <a:off x="867845" y="2755106"/>
            <a:ext cx="5460169"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Fleet Data Storage</a:t>
            </a:r>
            <a:endParaRPr lang="en-US" sz="1450" dirty="0"/>
          </a:p>
        </p:txBody>
      </p:sp>
      <p:sp>
        <p:nvSpPr>
          <p:cNvPr id="7" name="Text 4"/>
          <p:cNvSpPr/>
          <p:nvPr/>
        </p:nvSpPr>
        <p:spPr>
          <a:xfrm>
            <a:off x="867845" y="3111798"/>
            <a:ext cx="5460169" cy="212725"/>
          </a:xfrm>
          <a:prstGeom prst="rect">
            <a:avLst/>
          </a:prstGeom>
          <a:noFill/>
          <a:ln/>
        </p:spPr>
        <p:txBody>
          <a:bodyPr wrap="none" lIns="0" tIns="0" rIns="0" bIns="0" rtlCol="0" anchor="t"/>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Store and manage car information including ID, model, and availability status</a:t>
            </a:r>
            <a:endParaRPr lang="en-US" sz="11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3609578"/>
            <a:ext cx="5855843" cy="1101626"/>
          </a:xfrm>
          <a:prstGeom prst="rect">
            <a:avLst/>
          </a:prstGeom>
        </p:spPr>
      </p:pic>
      <p:sp>
        <p:nvSpPr>
          <p:cNvPr id="9" name="Text 5"/>
          <p:cNvSpPr/>
          <p:nvPr/>
        </p:nvSpPr>
        <p:spPr>
          <a:xfrm>
            <a:off x="867845" y="3769320"/>
            <a:ext cx="5460169"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Booking Management</a:t>
            </a:r>
            <a:endParaRPr lang="en-US" sz="1450" dirty="0"/>
          </a:p>
        </p:txBody>
      </p:sp>
      <p:sp>
        <p:nvSpPr>
          <p:cNvPr id="10" name="Text 6"/>
          <p:cNvSpPr/>
          <p:nvPr/>
        </p:nvSpPr>
        <p:spPr>
          <a:xfrm>
            <a:off x="867845" y="4126012"/>
            <a:ext cx="5460169" cy="425450"/>
          </a:xfrm>
          <a:prstGeom prst="rect">
            <a:avLst/>
          </a:prstGeom>
          <a:noFill/>
          <a:ln/>
        </p:spPr>
        <p:txBody>
          <a:bodyPr wrap="square" lIns="0" tIns="0" rIns="0" bIns="0" rtlCol="0" anchor="t">
            <a:normAutofit/>
          </a:bodyPr>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Track rental requests and process bookings with real-time availability updates</a:t>
            </a:r>
            <a:endParaRPr lang="en-US" sz="11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4836517"/>
            <a:ext cx="5855843" cy="888901"/>
          </a:xfrm>
          <a:prstGeom prst="rect">
            <a:avLst/>
          </a:prstGeom>
        </p:spPr>
      </p:pic>
      <p:sp>
        <p:nvSpPr>
          <p:cNvPr id="12" name="Text 7"/>
          <p:cNvSpPr/>
          <p:nvPr/>
        </p:nvSpPr>
        <p:spPr>
          <a:xfrm>
            <a:off x="867845" y="4996259"/>
            <a:ext cx="5460169"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Cost Computation</a:t>
            </a:r>
            <a:endParaRPr lang="en-US" sz="1450" dirty="0"/>
          </a:p>
        </p:txBody>
      </p:sp>
      <p:sp>
        <p:nvSpPr>
          <p:cNvPr id="13" name="Text 8"/>
          <p:cNvSpPr/>
          <p:nvPr/>
        </p:nvSpPr>
        <p:spPr>
          <a:xfrm>
            <a:off x="867845" y="5352951"/>
            <a:ext cx="5460169" cy="212725"/>
          </a:xfrm>
          <a:prstGeom prst="rect">
            <a:avLst/>
          </a:prstGeom>
          <a:noFill/>
          <a:ln/>
        </p:spPr>
        <p:txBody>
          <a:bodyPr wrap="none" lIns="0" tIns="0" rIns="0" bIns="0" rtlCol="0" anchor="t"/>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Calculate rental costs based on duration, car type, and applicable GST</a:t>
            </a:r>
            <a:endParaRPr lang="en-US" sz="1100" dirty="0"/>
          </a:p>
        </p:txBody>
      </p:sp>
      <p:sp>
        <p:nvSpPr>
          <p:cNvPr id="14" name="Text 9"/>
          <p:cNvSpPr/>
          <p:nvPr/>
        </p:nvSpPr>
        <p:spPr>
          <a:xfrm>
            <a:off x="6837390" y="1265128"/>
            <a:ext cx="4728647" cy="231378"/>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Sora SemiBold" pitchFamily="34" charset="0"/>
                <a:ea typeface="Sora SemiBold" pitchFamily="34" charset="-122"/>
                <a:cs typeface="Sora SemiBold" pitchFamily="34" charset="-120"/>
              </a:rPr>
              <a:t>What This Project Demonstrates</a:t>
            </a:r>
            <a:endParaRPr lang="en-US" sz="1450" dirty="0"/>
          </a:p>
        </p:txBody>
      </p:sp>
      <p:sp>
        <p:nvSpPr>
          <p:cNvPr id="15" name="Text 10"/>
          <p:cNvSpPr/>
          <p:nvPr/>
        </p:nvSpPr>
        <p:spPr>
          <a:xfrm>
            <a:off x="6837390" y="1631752"/>
            <a:ext cx="281377" cy="175816"/>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Sora Light" pitchFamily="34" charset="0"/>
                <a:ea typeface="Sora Light" pitchFamily="34" charset="-122"/>
                <a:cs typeface="Sora Light" pitchFamily="34" charset="-120"/>
              </a:rPr>
              <a:t>01</a:t>
            </a:r>
            <a:endParaRPr lang="en-US" sz="1100" dirty="0"/>
          </a:p>
        </p:txBody>
      </p:sp>
      <p:sp>
        <p:nvSpPr>
          <p:cNvPr id="16" name="Shape 11"/>
          <p:cNvSpPr/>
          <p:nvPr/>
        </p:nvSpPr>
        <p:spPr>
          <a:xfrm>
            <a:off x="6837390" y="1851720"/>
            <a:ext cx="4728647" cy="19050"/>
          </a:xfrm>
          <a:prstGeom prst="rect">
            <a:avLst/>
          </a:prstGeom>
          <a:solidFill>
            <a:srgbClr val="DA1B2E"/>
          </a:solidFill>
          <a:ln/>
        </p:spPr>
      </p:sp>
      <p:sp>
        <p:nvSpPr>
          <p:cNvPr id="17" name="Text 12"/>
          <p:cNvSpPr/>
          <p:nvPr/>
        </p:nvSpPr>
        <p:spPr>
          <a:xfrm>
            <a:off x="6837390" y="1960166"/>
            <a:ext cx="4728647"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Real-World Relevance</a:t>
            </a:r>
            <a:endParaRPr lang="en-US" sz="1450" dirty="0"/>
          </a:p>
        </p:txBody>
      </p:sp>
      <p:sp>
        <p:nvSpPr>
          <p:cNvPr id="18" name="Text 13"/>
          <p:cNvSpPr/>
          <p:nvPr/>
        </p:nvSpPr>
        <p:spPr>
          <a:xfrm>
            <a:off x="6837390" y="2316857"/>
            <a:ext cx="4728647" cy="212725"/>
          </a:xfrm>
          <a:prstGeom prst="rect">
            <a:avLst/>
          </a:prstGeom>
          <a:noFill/>
          <a:ln/>
        </p:spPr>
        <p:txBody>
          <a:bodyPr wrap="none" lIns="0" tIns="0" rIns="0" bIns="0" rtlCol="0" anchor="t"/>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Practical scenario applicable to actual business operations</a:t>
            </a:r>
            <a:endParaRPr lang="en-US" sz="1100" dirty="0"/>
          </a:p>
        </p:txBody>
      </p:sp>
      <p:sp>
        <p:nvSpPr>
          <p:cNvPr id="19" name="Text 14"/>
          <p:cNvSpPr/>
          <p:nvPr/>
        </p:nvSpPr>
        <p:spPr>
          <a:xfrm>
            <a:off x="6837390" y="2760365"/>
            <a:ext cx="281377" cy="175816"/>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Sora Light" pitchFamily="34" charset="0"/>
                <a:ea typeface="Sora Light" pitchFamily="34" charset="-122"/>
                <a:cs typeface="Sora Light" pitchFamily="34" charset="-120"/>
              </a:rPr>
              <a:t>02</a:t>
            </a:r>
            <a:endParaRPr lang="en-US" sz="1100" dirty="0"/>
          </a:p>
        </p:txBody>
      </p:sp>
      <p:sp>
        <p:nvSpPr>
          <p:cNvPr id="20" name="Shape 15"/>
          <p:cNvSpPr/>
          <p:nvPr/>
        </p:nvSpPr>
        <p:spPr>
          <a:xfrm>
            <a:off x="6837390" y="2980333"/>
            <a:ext cx="4728647" cy="19050"/>
          </a:xfrm>
          <a:prstGeom prst="rect">
            <a:avLst/>
          </a:prstGeom>
          <a:solidFill>
            <a:srgbClr val="DA1B2E"/>
          </a:solidFill>
          <a:ln/>
        </p:spPr>
      </p:sp>
      <p:sp>
        <p:nvSpPr>
          <p:cNvPr id="21" name="Text 16"/>
          <p:cNvSpPr/>
          <p:nvPr/>
        </p:nvSpPr>
        <p:spPr>
          <a:xfrm>
            <a:off x="6837390" y="3088779"/>
            <a:ext cx="4728647"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Core Java Concepts</a:t>
            </a:r>
            <a:endParaRPr lang="en-US" sz="1450" dirty="0"/>
          </a:p>
        </p:txBody>
      </p:sp>
      <p:sp>
        <p:nvSpPr>
          <p:cNvPr id="22" name="Text 17"/>
          <p:cNvSpPr/>
          <p:nvPr/>
        </p:nvSpPr>
        <p:spPr>
          <a:xfrm>
            <a:off x="6837390" y="3445470"/>
            <a:ext cx="4728647" cy="212725"/>
          </a:xfrm>
          <a:prstGeom prst="rect">
            <a:avLst/>
          </a:prstGeom>
          <a:noFill/>
          <a:ln/>
        </p:spPr>
        <p:txBody>
          <a:bodyPr wrap="none" lIns="0" tIns="0" rIns="0" bIns="0" rtlCol="0" anchor="t"/>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Variables, control flow, methods, and arrays applied cohesively</a:t>
            </a:r>
            <a:endParaRPr lang="en-US" sz="1100" dirty="0"/>
          </a:p>
        </p:txBody>
      </p:sp>
      <p:sp>
        <p:nvSpPr>
          <p:cNvPr id="23" name="Text 18"/>
          <p:cNvSpPr/>
          <p:nvPr/>
        </p:nvSpPr>
        <p:spPr>
          <a:xfrm>
            <a:off x="6837390" y="3888978"/>
            <a:ext cx="281377" cy="175816"/>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Sora Light" pitchFamily="34" charset="0"/>
                <a:ea typeface="Sora Light" pitchFamily="34" charset="-122"/>
                <a:cs typeface="Sora Light" pitchFamily="34" charset="-120"/>
              </a:rPr>
              <a:t>03</a:t>
            </a:r>
            <a:endParaRPr lang="en-US" sz="1100" dirty="0"/>
          </a:p>
        </p:txBody>
      </p:sp>
      <p:sp>
        <p:nvSpPr>
          <p:cNvPr id="24" name="Shape 19"/>
          <p:cNvSpPr/>
          <p:nvPr/>
        </p:nvSpPr>
        <p:spPr>
          <a:xfrm>
            <a:off x="6837390" y="4108946"/>
            <a:ext cx="4728647" cy="19050"/>
          </a:xfrm>
          <a:prstGeom prst="rect">
            <a:avLst/>
          </a:prstGeom>
          <a:solidFill>
            <a:srgbClr val="DA1B2E"/>
          </a:solidFill>
          <a:ln/>
        </p:spPr>
      </p:sp>
      <p:sp>
        <p:nvSpPr>
          <p:cNvPr id="25" name="Text 20"/>
          <p:cNvSpPr/>
          <p:nvPr/>
        </p:nvSpPr>
        <p:spPr>
          <a:xfrm>
            <a:off x="6837390" y="4217392"/>
            <a:ext cx="4728647"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User Interface</a:t>
            </a:r>
            <a:endParaRPr lang="en-US" sz="1450" dirty="0"/>
          </a:p>
        </p:txBody>
      </p:sp>
      <p:sp>
        <p:nvSpPr>
          <p:cNvPr id="26" name="Text 21"/>
          <p:cNvSpPr/>
          <p:nvPr/>
        </p:nvSpPr>
        <p:spPr>
          <a:xfrm>
            <a:off x="6837390" y="4574084"/>
            <a:ext cx="4728647" cy="212725"/>
          </a:xfrm>
          <a:prstGeom prst="rect">
            <a:avLst/>
          </a:prstGeom>
          <a:noFill/>
          <a:ln/>
        </p:spPr>
        <p:txBody>
          <a:bodyPr wrap="none" lIns="0" tIns="0" rIns="0" bIns="0" rtlCol="0" anchor="t"/>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Simple menu-driven console interface for staff and customers</a:t>
            </a:r>
            <a:endParaRPr lang="en-US" sz="1100" dirty="0"/>
          </a:p>
        </p:txBody>
      </p:sp>
      <p:sp>
        <p:nvSpPr>
          <p:cNvPr id="27" name="Text 22"/>
          <p:cNvSpPr/>
          <p:nvPr/>
        </p:nvSpPr>
        <p:spPr>
          <a:xfrm>
            <a:off x="6837390" y="5017591"/>
            <a:ext cx="281377" cy="175816"/>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Sora Light" pitchFamily="34" charset="0"/>
                <a:ea typeface="Sora Light" pitchFamily="34" charset="-122"/>
                <a:cs typeface="Sora Light" pitchFamily="34" charset="-120"/>
              </a:rPr>
              <a:t>04</a:t>
            </a:r>
            <a:endParaRPr lang="en-US" sz="1100" dirty="0"/>
          </a:p>
        </p:txBody>
      </p:sp>
      <p:sp>
        <p:nvSpPr>
          <p:cNvPr id="28" name="Shape 23"/>
          <p:cNvSpPr/>
          <p:nvPr/>
        </p:nvSpPr>
        <p:spPr>
          <a:xfrm>
            <a:off x="6837390" y="5237559"/>
            <a:ext cx="4728647" cy="19050"/>
          </a:xfrm>
          <a:prstGeom prst="rect">
            <a:avLst/>
          </a:prstGeom>
          <a:solidFill>
            <a:srgbClr val="DA1B2E"/>
          </a:solidFill>
          <a:ln/>
        </p:spPr>
      </p:sp>
      <p:sp>
        <p:nvSpPr>
          <p:cNvPr id="29" name="Text 24"/>
          <p:cNvSpPr/>
          <p:nvPr/>
        </p:nvSpPr>
        <p:spPr>
          <a:xfrm>
            <a:off x="6837390" y="5346005"/>
            <a:ext cx="4728647" cy="231378"/>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Sora SemiBold" pitchFamily="34" charset="0"/>
                <a:ea typeface="Sora SemiBold" pitchFamily="34" charset="-122"/>
                <a:cs typeface="Sora SemiBold" pitchFamily="34" charset="-120"/>
              </a:rPr>
              <a:t>College-Level Scope</a:t>
            </a:r>
            <a:endParaRPr lang="en-US" sz="1450" dirty="0"/>
          </a:p>
        </p:txBody>
      </p:sp>
      <p:sp>
        <p:nvSpPr>
          <p:cNvPr id="30" name="Text 25"/>
          <p:cNvSpPr/>
          <p:nvPr/>
        </p:nvSpPr>
        <p:spPr>
          <a:xfrm>
            <a:off x="6837390" y="5702697"/>
            <a:ext cx="4728647" cy="425450"/>
          </a:xfrm>
          <a:prstGeom prst="rect">
            <a:avLst/>
          </a:prstGeom>
          <a:noFill/>
          <a:ln/>
        </p:spPr>
        <p:txBody>
          <a:bodyPr wrap="square" lIns="0" tIns="0" rIns="0" bIns="0" rtlCol="0" anchor="t">
            <a:normAutofit/>
          </a:bodyPr>
          <a:lstStyle/>
          <a:p>
            <a:pPr algn="l" indent="0" marL="0">
              <a:lnSpc>
                <a:spcPct val="126000"/>
              </a:lnSpc>
              <a:buNone/>
            </a:pPr>
            <a:r>
              <a:rPr lang="en-US" sz="1100" dirty="0">
                <a:solidFill>
                  <a:srgbClr val="3B3535"/>
                </a:solidFill>
                <a:latin typeface="Sora Light" pitchFamily="34" charset="0"/>
                <a:ea typeface="Sora Light" pitchFamily="34" charset="-122"/>
                <a:cs typeface="Sora Light" pitchFamily="34" charset="-120"/>
              </a:rPr>
              <a:t>Structured to align with three defined course outcomes (CO1–CO3)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467407"/>
            <a:ext cx="10927878" cy="479028"/>
          </a:xfrm>
          <a:prstGeom prst="rect">
            <a:avLst/>
          </a:prstGeom>
          <a:noFill/>
          <a:ln/>
        </p:spPr>
        <p:txBody>
          <a:bodyPr wrap="none" lIns="0" tIns="0" rIns="0" bIns="0" rtlCol="0" anchor="t"/>
          <a:lstStyle/>
          <a:p>
            <a:pPr algn="l" indent="0" marL="0">
              <a:lnSpc>
                <a:spcPct val="104000"/>
              </a:lnSpc>
              <a:buNone/>
            </a:pPr>
            <a:r>
              <a:rPr lang="en-US" sz="3000" dirty="0">
                <a:solidFill>
                  <a:srgbClr val="1F1E1E"/>
                </a:solidFill>
                <a:latin typeface="Sora SemiBold" pitchFamily="34" charset="0"/>
                <a:ea typeface="Sora SemiBold" pitchFamily="34" charset="-122"/>
                <a:cs typeface="Sora SemiBold" pitchFamily="34" charset="-120"/>
              </a:rPr>
              <a:t>Advantages of the System</a:t>
            </a:r>
            <a:endParaRPr lang="en-US" sz="3000" dirty="0"/>
          </a:p>
        </p:txBody>
      </p:sp>
      <p:sp>
        <p:nvSpPr>
          <p:cNvPr id="3" name="Shape 1"/>
          <p:cNvSpPr/>
          <p:nvPr/>
        </p:nvSpPr>
        <p:spPr>
          <a:xfrm>
            <a:off x="631908" y="1204516"/>
            <a:ext cx="5396770" cy="1642666"/>
          </a:xfrm>
          <a:prstGeom prst="roundRect">
            <a:avLst>
              <a:gd name="adj" fmla="val 3724"/>
            </a:avLst>
          </a:prstGeom>
          <a:solidFill>
            <a:srgbClr val="F9D2D6"/>
          </a:solidFill>
          <a:ln w="6350">
            <a:solidFill>
              <a:srgbClr val="DFB8BC"/>
            </a:solidFill>
            <a:prstDash val="solid"/>
          </a:ln>
        </p:spPr>
      </p:sp>
      <p:sp>
        <p:nvSpPr>
          <p:cNvPr id="4" name="Shape 2"/>
          <p:cNvSpPr/>
          <p:nvPr/>
        </p:nvSpPr>
        <p:spPr>
          <a:xfrm>
            <a:off x="783809" y="1356420"/>
            <a:ext cx="436849" cy="436860"/>
          </a:xfrm>
          <a:prstGeom prst="ellipse">
            <a:avLst/>
          </a:prstGeom>
          <a:solidFill>
            <a:srgbClr val="DA1B2E"/>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3959" y="1476573"/>
            <a:ext cx="196547" cy="196552"/>
          </a:xfrm>
          <a:prstGeom prst="rect">
            <a:avLst/>
          </a:prstGeom>
        </p:spPr>
      </p:pic>
      <p:sp>
        <p:nvSpPr>
          <p:cNvPr id="6" name="Text 3"/>
          <p:cNvSpPr/>
          <p:nvPr/>
        </p:nvSpPr>
        <p:spPr>
          <a:xfrm>
            <a:off x="783809" y="1927523"/>
            <a:ext cx="5092969" cy="239415"/>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Sora SemiBold" pitchFamily="34" charset="0"/>
                <a:ea typeface="Sora SemiBold" pitchFamily="34" charset="-122"/>
                <a:cs typeface="Sora SemiBold" pitchFamily="34" charset="-120"/>
              </a:rPr>
              <a:t>Easy Fleet Management</a:t>
            </a:r>
            <a:endParaRPr lang="en-US" sz="1500" dirty="0"/>
          </a:p>
        </p:txBody>
      </p:sp>
      <p:sp>
        <p:nvSpPr>
          <p:cNvPr id="7" name="Text 4"/>
          <p:cNvSpPr/>
          <p:nvPr/>
        </p:nvSpPr>
        <p:spPr>
          <a:xfrm>
            <a:off x="783809" y="2247404"/>
            <a:ext cx="5092969" cy="447873"/>
          </a:xfrm>
          <a:prstGeom prst="rect">
            <a:avLst/>
          </a:prstGeom>
          <a:noFill/>
          <a:ln/>
        </p:spPr>
        <p:txBody>
          <a:bodyPr wrap="square" lIns="0" tIns="0" rIns="0" bIns="0" rtlCol="0" anchor="t">
            <a:normAutofit/>
          </a:bodyPr>
          <a:lstStyle/>
          <a:p>
            <a:pPr algn="l" indent="0" marL="0">
              <a:lnSpc>
                <a:spcPct val="128000"/>
              </a:lnSpc>
              <a:buNone/>
            </a:pPr>
            <a:r>
              <a:rPr lang="en-US" sz="1100" dirty="0">
                <a:solidFill>
                  <a:srgbClr val="3B3535"/>
                </a:solidFill>
                <a:latin typeface="Sora Light" pitchFamily="34" charset="0"/>
                <a:ea typeface="Sora Light" pitchFamily="34" charset="-122"/>
                <a:cs typeface="Sora Light" pitchFamily="34" charset="-120"/>
              </a:rPr>
              <a:t>Centralized system to manage all vehicles in one place — no scattered spreadsheets or paper records</a:t>
            </a:r>
            <a:endParaRPr lang="en-US" sz="1100" dirty="0"/>
          </a:p>
        </p:txBody>
      </p:sp>
      <p:sp>
        <p:nvSpPr>
          <p:cNvPr id="8" name="Shape 5"/>
          <p:cNvSpPr/>
          <p:nvPr/>
        </p:nvSpPr>
        <p:spPr>
          <a:xfrm>
            <a:off x="6162918" y="1204516"/>
            <a:ext cx="5396869" cy="1642666"/>
          </a:xfrm>
          <a:prstGeom prst="roundRect">
            <a:avLst>
              <a:gd name="adj" fmla="val 3724"/>
            </a:avLst>
          </a:prstGeom>
          <a:solidFill>
            <a:srgbClr val="F9D2D6"/>
          </a:solidFill>
          <a:ln w="6350">
            <a:solidFill>
              <a:srgbClr val="DFB8BC"/>
            </a:solidFill>
            <a:prstDash val="solid"/>
          </a:ln>
        </p:spPr>
      </p:sp>
      <p:sp>
        <p:nvSpPr>
          <p:cNvPr id="9" name="Shape 6"/>
          <p:cNvSpPr/>
          <p:nvPr/>
        </p:nvSpPr>
        <p:spPr>
          <a:xfrm>
            <a:off x="6314818" y="1356420"/>
            <a:ext cx="436849" cy="436860"/>
          </a:xfrm>
          <a:prstGeom prst="ellipse">
            <a:avLst/>
          </a:prstGeom>
          <a:solidFill>
            <a:srgbClr val="DA1B2E"/>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34969" y="1476573"/>
            <a:ext cx="196547" cy="196552"/>
          </a:xfrm>
          <a:prstGeom prst="rect">
            <a:avLst/>
          </a:prstGeom>
        </p:spPr>
      </p:pic>
      <p:sp>
        <p:nvSpPr>
          <p:cNvPr id="11" name="Text 7"/>
          <p:cNvSpPr/>
          <p:nvPr/>
        </p:nvSpPr>
        <p:spPr>
          <a:xfrm>
            <a:off x="6314818" y="1927523"/>
            <a:ext cx="5093069" cy="239415"/>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Sora SemiBold" pitchFamily="34" charset="0"/>
                <a:ea typeface="Sora SemiBold" pitchFamily="34" charset="-122"/>
                <a:cs typeface="Sora SemiBold" pitchFamily="34" charset="-120"/>
              </a:rPr>
              <a:t>Tracks Car Availability</a:t>
            </a:r>
            <a:endParaRPr lang="en-US" sz="1500" dirty="0"/>
          </a:p>
        </p:txBody>
      </p:sp>
      <p:sp>
        <p:nvSpPr>
          <p:cNvPr id="12" name="Text 8"/>
          <p:cNvSpPr/>
          <p:nvPr/>
        </p:nvSpPr>
        <p:spPr>
          <a:xfrm>
            <a:off x="6314818" y="2247404"/>
            <a:ext cx="5093069" cy="447873"/>
          </a:xfrm>
          <a:prstGeom prst="rect">
            <a:avLst/>
          </a:prstGeom>
          <a:noFill/>
          <a:ln/>
        </p:spPr>
        <p:txBody>
          <a:bodyPr wrap="square" lIns="0" tIns="0" rIns="0" bIns="0" rtlCol="0" anchor="t">
            <a:normAutofit/>
          </a:bodyPr>
          <a:lstStyle/>
          <a:p>
            <a:pPr algn="l" indent="0" marL="0">
              <a:lnSpc>
                <a:spcPct val="128000"/>
              </a:lnSpc>
              <a:buNone/>
            </a:pPr>
            <a:r>
              <a:rPr lang="en-US" sz="1100" dirty="0">
                <a:solidFill>
                  <a:srgbClr val="3B3535"/>
                </a:solidFill>
                <a:latin typeface="Sora Light" pitchFamily="34" charset="0"/>
                <a:ea typeface="Sora Light" pitchFamily="34" charset="-122"/>
                <a:cs typeface="Sora Light" pitchFamily="34" charset="-120"/>
              </a:rPr>
              <a:t>Real-time status updates prevent double-booking and ensure accurate fleet visibility at all times</a:t>
            </a:r>
            <a:endParaRPr lang="en-US" sz="1100" dirty="0"/>
          </a:p>
        </p:txBody>
      </p:sp>
      <p:sp>
        <p:nvSpPr>
          <p:cNvPr id="13" name="Shape 9"/>
          <p:cNvSpPr/>
          <p:nvPr/>
        </p:nvSpPr>
        <p:spPr>
          <a:xfrm>
            <a:off x="631908" y="2981424"/>
            <a:ext cx="5396770" cy="1642666"/>
          </a:xfrm>
          <a:prstGeom prst="roundRect">
            <a:avLst>
              <a:gd name="adj" fmla="val 3724"/>
            </a:avLst>
          </a:prstGeom>
          <a:solidFill>
            <a:srgbClr val="F9D2D6"/>
          </a:solidFill>
          <a:ln w="6350">
            <a:solidFill>
              <a:srgbClr val="DFB8BC"/>
            </a:solidFill>
            <a:prstDash val="solid"/>
          </a:ln>
        </p:spPr>
      </p:sp>
      <p:sp>
        <p:nvSpPr>
          <p:cNvPr id="14" name="Shape 10"/>
          <p:cNvSpPr/>
          <p:nvPr/>
        </p:nvSpPr>
        <p:spPr>
          <a:xfrm>
            <a:off x="783809" y="3133328"/>
            <a:ext cx="436849" cy="436860"/>
          </a:xfrm>
          <a:prstGeom prst="ellipse">
            <a:avLst/>
          </a:prstGeom>
          <a:solidFill>
            <a:srgbClr val="DA1B2E"/>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3959" y="3253482"/>
            <a:ext cx="196547" cy="196552"/>
          </a:xfrm>
          <a:prstGeom prst="rect">
            <a:avLst/>
          </a:prstGeom>
        </p:spPr>
      </p:pic>
      <p:sp>
        <p:nvSpPr>
          <p:cNvPr id="16" name="Text 11"/>
          <p:cNvSpPr/>
          <p:nvPr/>
        </p:nvSpPr>
        <p:spPr>
          <a:xfrm>
            <a:off x="783809" y="3704431"/>
            <a:ext cx="5092969" cy="239415"/>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Sora SemiBold" pitchFamily="34" charset="0"/>
                <a:ea typeface="Sora SemiBold" pitchFamily="34" charset="-122"/>
                <a:cs typeface="Sora SemiBold" pitchFamily="34" charset="-120"/>
              </a:rPr>
              <a:t>Reduces Manual Work</a:t>
            </a:r>
            <a:endParaRPr lang="en-US" sz="1500" dirty="0"/>
          </a:p>
        </p:txBody>
      </p:sp>
      <p:sp>
        <p:nvSpPr>
          <p:cNvPr id="17" name="Text 12"/>
          <p:cNvSpPr/>
          <p:nvPr/>
        </p:nvSpPr>
        <p:spPr>
          <a:xfrm>
            <a:off x="783809" y="4024313"/>
            <a:ext cx="5092969" cy="447873"/>
          </a:xfrm>
          <a:prstGeom prst="rect">
            <a:avLst/>
          </a:prstGeom>
          <a:noFill/>
          <a:ln/>
        </p:spPr>
        <p:txBody>
          <a:bodyPr wrap="square" lIns="0" tIns="0" rIns="0" bIns="0" rtlCol="0" anchor="t">
            <a:normAutofit/>
          </a:bodyPr>
          <a:lstStyle/>
          <a:p>
            <a:pPr algn="l" indent="0" marL="0">
              <a:lnSpc>
                <a:spcPct val="128000"/>
              </a:lnSpc>
              <a:buNone/>
            </a:pPr>
            <a:r>
              <a:rPr lang="en-US" sz="1100" dirty="0">
                <a:solidFill>
                  <a:srgbClr val="3B3535"/>
                </a:solidFill>
                <a:latin typeface="Sora Light" pitchFamily="34" charset="0"/>
                <a:ea typeface="Sora Light" pitchFamily="34" charset="-122"/>
                <a:cs typeface="Sora Light" pitchFamily="34" charset="-120"/>
              </a:rPr>
              <a:t>Automated calculations and record-keeping save significant staff time and reduce human error</a:t>
            </a:r>
            <a:endParaRPr lang="en-US" sz="1100" dirty="0"/>
          </a:p>
        </p:txBody>
      </p:sp>
      <p:sp>
        <p:nvSpPr>
          <p:cNvPr id="18" name="Shape 13"/>
          <p:cNvSpPr/>
          <p:nvPr/>
        </p:nvSpPr>
        <p:spPr>
          <a:xfrm>
            <a:off x="6162918" y="2981424"/>
            <a:ext cx="5396869" cy="1642666"/>
          </a:xfrm>
          <a:prstGeom prst="roundRect">
            <a:avLst>
              <a:gd name="adj" fmla="val 3724"/>
            </a:avLst>
          </a:prstGeom>
          <a:solidFill>
            <a:srgbClr val="F9D2D6"/>
          </a:solidFill>
          <a:ln w="6350">
            <a:solidFill>
              <a:srgbClr val="DFB8BC"/>
            </a:solidFill>
            <a:prstDash val="solid"/>
          </a:ln>
        </p:spPr>
      </p:sp>
      <p:sp>
        <p:nvSpPr>
          <p:cNvPr id="19" name="Shape 14"/>
          <p:cNvSpPr/>
          <p:nvPr/>
        </p:nvSpPr>
        <p:spPr>
          <a:xfrm>
            <a:off x="6314818" y="3133328"/>
            <a:ext cx="436849" cy="436860"/>
          </a:xfrm>
          <a:prstGeom prst="ellipse">
            <a:avLst/>
          </a:prstGeom>
          <a:solidFill>
            <a:srgbClr val="DA1B2E"/>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34969" y="3253482"/>
            <a:ext cx="196547" cy="196552"/>
          </a:xfrm>
          <a:prstGeom prst="rect">
            <a:avLst/>
          </a:prstGeom>
        </p:spPr>
      </p:pic>
      <p:sp>
        <p:nvSpPr>
          <p:cNvPr id="21" name="Text 15"/>
          <p:cNvSpPr/>
          <p:nvPr/>
        </p:nvSpPr>
        <p:spPr>
          <a:xfrm>
            <a:off x="6314818" y="3704431"/>
            <a:ext cx="5093069" cy="239415"/>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Sora SemiBold" pitchFamily="34" charset="0"/>
                <a:ea typeface="Sora SemiBold" pitchFamily="34" charset="-122"/>
                <a:cs typeface="Sora SemiBold" pitchFamily="34" charset="-120"/>
              </a:rPr>
              <a:t>Simple Rental Calculations</a:t>
            </a:r>
            <a:endParaRPr lang="en-US" sz="1500" dirty="0"/>
          </a:p>
        </p:txBody>
      </p:sp>
      <p:sp>
        <p:nvSpPr>
          <p:cNvPr id="22" name="Text 16"/>
          <p:cNvSpPr/>
          <p:nvPr/>
        </p:nvSpPr>
        <p:spPr>
          <a:xfrm>
            <a:off x="6314818" y="4024313"/>
            <a:ext cx="5093069" cy="447873"/>
          </a:xfrm>
          <a:prstGeom prst="rect">
            <a:avLst/>
          </a:prstGeom>
          <a:noFill/>
          <a:ln/>
        </p:spPr>
        <p:txBody>
          <a:bodyPr wrap="square" lIns="0" tIns="0" rIns="0" bIns="0" rtlCol="0" anchor="t">
            <a:normAutofit/>
          </a:bodyPr>
          <a:lstStyle/>
          <a:p>
            <a:pPr algn="l" indent="0" marL="0">
              <a:lnSpc>
                <a:spcPct val="128000"/>
              </a:lnSpc>
              <a:buNone/>
            </a:pPr>
            <a:r>
              <a:rPr lang="en-US" sz="1100" dirty="0">
                <a:solidFill>
                  <a:srgbClr val="3B3535"/>
                </a:solidFill>
                <a:latin typeface="Sora Light" pitchFamily="34" charset="0"/>
                <a:ea typeface="Sora Light" pitchFamily="34" charset="-122"/>
                <a:cs typeface="Sora Light" pitchFamily="34" charset="-120"/>
              </a:rPr>
              <a:t>Instant cost computation based on rental duration, daily rate, and 18% GST — no manual math needed</a:t>
            </a:r>
            <a:endParaRPr lang="en-US" sz="1100" dirty="0"/>
          </a:p>
        </p:txBody>
      </p:sp>
      <p:sp>
        <p:nvSpPr>
          <p:cNvPr id="23" name="Shape 17"/>
          <p:cNvSpPr/>
          <p:nvPr/>
        </p:nvSpPr>
        <p:spPr>
          <a:xfrm>
            <a:off x="631908" y="4758333"/>
            <a:ext cx="5396770" cy="1642666"/>
          </a:xfrm>
          <a:prstGeom prst="roundRect">
            <a:avLst>
              <a:gd name="adj" fmla="val 3724"/>
            </a:avLst>
          </a:prstGeom>
          <a:solidFill>
            <a:srgbClr val="F9D2D6"/>
          </a:solidFill>
          <a:ln w="6350">
            <a:solidFill>
              <a:srgbClr val="DFB8BC"/>
            </a:solidFill>
            <a:prstDash val="solid"/>
          </a:ln>
        </p:spPr>
      </p:sp>
      <p:sp>
        <p:nvSpPr>
          <p:cNvPr id="24" name="Shape 18"/>
          <p:cNvSpPr/>
          <p:nvPr/>
        </p:nvSpPr>
        <p:spPr>
          <a:xfrm>
            <a:off x="783809" y="4910237"/>
            <a:ext cx="436849" cy="436860"/>
          </a:xfrm>
          <a:prstGeom prst="ellipse">
            <a:avLst/>
          </a:prstGeom>
          <a:solidFill>
            <a:srgbClr val="DA1B2E"/>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3959" y="5030391"/>
            <a:ext cx="196547" cy="196552"/>
          </a:xfrm>
          <a:prstGeom prst="rect">
            <a:avLst/>
          </a:prstGeom>
        </p:spPr>
      </p:pic>
      <p:sp>
        <p:nvSpPr>
          <p:cNvPr id="26" name="Text 19"/>
          <p:cNvSpPr/>
          <p:nvPr/>
        </p:nvSpPr>
        <p:spPr>
          <a:xfrm>
            <a:off x="783809" y="5481340"/>
            <a:ext cx="5092969" cy="239415"/>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Sora SemiBold" pitchFamily="34" charset="0"/>
                <a:ea typeface="Sora SemiBold" pitchFamily="34" charset="-122"/>
                <a:cs typeface="Sora SemiBold" pitchFamily="34" charset="-120"/>
              </a:rPr>
              <a:t>Organized Data Management</a:t>
            </a:r>
            <a:endParaRPr lang="en-US" sz="1500" dirty="0"/>
          </a:p>
        </p:txBody>
      </p:sp>
      <p:sp>
        <p:nvSpPr>
          <p:cNvPr id="27" name="Text 20"/>
          <p:cNvSpPr/>
          <p:nvPr/>
        </p:nvSpPr>
        <p:spPr>
          <a:xfrm>
            <a:off x="783809" y="5801221"/>
            <a:ext cx="5092969" cy="447873"/>
          </a:xfrm>
          <a:prstGeom prst="rect">
            <a:avLst/>
          </a:prstGeom>
          <a:noFill/>
          <a:ln/>
        </p:spPr>
        <p:txBody>
          <a:bodyPr wrap="square" lIns="0" tIns="0" rIns="0" bIns="0" rtlCol="0" anchor="t">
            <a:normAutofit/>
          </a:bodyPr>
          <a:lstStyle/>
          <a:p>
            <a:pPr algn="l" indent="0" marL="0">
              <a:lnSpc>
                <a:spcPct val="128000"/>
              </a:lnSpc>
              <a:buNone/>
            </a:pPr>
            <a:r>
              <a:rPr lang="en-US" sz="1100" dirty="0">
                <a:solidFill>
                  <a:srgbClr val="3B3535"/>
                </a:solidFill>
                <a:latin typeface="Sora Light" pitchFamily="34" charset="0"/>
                <a:ea typeface="Sora Light" pitchFamily="34" charset="-122"/>
                <a:cs typeface="Sora Light" pitchFamily="34" charset="-120"/>
              </a:rPr>
              <a:t>Structured storage of car and rental information using arrays and variables for clean data access</a:t>
            </a:r>
            <a:endParaRPr lang="en-US" sz="1100" dirty="0"/>
          </a:p>
        </p:txBody>
      </p:sp>
      <p:sp>
        <p:nvSpPr>
          <p:cNvPr id="28" name="Shape 21"/>
          <p:cNvSpPr/>
          <p:nvPr/>
        </p:nvSpPr>
        <p:spPr>
          <a:xfrm>
            <a:off x="6162918" y="4758333"/>
            <a:ext cx="5396869" cy="1642666"/>
          </a:xfrm>
          <a:prstGeom prst="roundRect">
            <a:avLst>
              <a:gd name="adj" fmla="val 3724"/>
            </a:avLst>
          </a:prstGeom>
          <a:solidFill>
            <a:srgbClr val="F9D2D6"/>
          </a:solidFill>
          <a:ln w="6350">
            <a:solidFill>
              <a:srgbClr val="DFB8BC"/>
            </a:solidFill>
            <a:prstDash val="solid"/>
          </a:ln>
        </p:spPr>
      </p:sp>
      <p:sp>
        <p:nvSpPr>
          <p:cNvPr id="29" name="Shape 22"/>
          <p:cNvSpPr/>
          <p:nvPr/>
        </p:nvSpPr>
        <p:spPr>
          <a:xfrm>
            <a:off x="6314818" y="4910237"/>
            <a:ext cx="436849" cy="436860"/>
          </a:xfrm>
          <a:prstGeom prst="ellipse">
            <a:avLst/>
          </a:prstGeom>
          <a:solidFill>
            <a:srgbClr val="DA1B2E"/>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34969" y="5030391"/>
            <a:ext cx="196547" cy="196552"/>
          </a:xfrm>
          <a:prstGeom prst="rect">
            <a:avLst/>
          </a:prstGeom>
        </p:spPr>
      </p:pic>
      <p:sp>
        <p:nvSpPr>
          <p:cNvPr id="31" name="Text 23"/>
          <p:cNvSpPr/>
          <p:nvPr/>
        </p:nvSpPr>
        <p:spPr>
          <a:xfrm>
            <a:off x="6314818" y="5481340"/>
            <a:ext cx="5093069" cy="239415"/>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Sora SemiBold" pitchFamily="34" charset="0"/>
                <a:ea typeface="Sora SemiBold" pitchFamily="34" charset="-122"/>
                <a:cs typeface="Sora SemiBold" pitchFamily="34" charset="-120"/>
              </a:rPr>
              <a:t>Easy to Operate</a:t>
            </a:r>
            <a:endParaRPr lang="en-US" sz="1500" dirty="0"/>
          </a:p>
        </p:txBody>
      </p:sp>
      <p:sp>
        <p:nvSpPr>
          <p:cNvPr id="32" name="Text 24"/>
          <p:cNvSpPr/>
          <p:nvPr/>
        </p:nvSpPr>
        <p:spPr>
          <a:xfrm>
            <a:off x="6314818" y="5801221"/>
            <a:ext cx="5093069" cy="447873"/>
          </a:xfrm>
          <a:prstGeom prst="rect">
            <a:avLst/>
          </a:prstGeom>
          <a:noFill/>
          <a:ln/>
        </p:spPr>
        <p:txBody>
          <a:bodyPr wrap="square" lIns="0" tIns="0" rIns="0" bIns="0" rtlCol="0" anchor="t">
            <a:normAutofit/>
          </a:bodyPr>
          <a:lstStyle/>
          <a:p>
            <a:pPr algn="l" indent="0" marL="0">
              <a:lnSpc>
                <a:spcPct val="128000"/>
              </a:lnSpc>
              <a:buNone/>
            </a:pPr>
            <a:r>
              <a:rPr lang="en-US" sz="1100" dirty="0">
                <a:solidFill>
                  <a:srgbClr val="3B3535"/>
                </a:solidFill>
                <a:latin typeface="Sora Light" pitchFamily="34" charset="0"/>
                <a:ea typeface="Sora Light" pitchFamily="34" charset="-122"/>
                <a:cs typeface="Sora Light" pitchFamily="34" charset="-120"/>
              </a:rPr>
              <a:t>User-friendly menu interface requires no technical knowledge — suitable for both staff and customers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1908" y="463550"/>
            <a:ext cx="1301221" cy="202605"/>
          </a:xfrm>
          <a:prstGeom prst="roundRect">
            <a:avLst>
              <a:gd name="adj" fmla="val 22106"/>
            </a:avLst>
          </a:prstGeom>
          <a:solidFill>
            <a:srgbClr val="F9D2D6"/>
          </a:solidFill>
          <a:ln/>
        </p:spPr>
      </p:sp>
      <p:sp>
        <p:nvSpPr>
          <p:cNvPr id="3" name="Text 1"/>
          <p:cNvSpPr/>
          <p:nvPr/>
        </p:nvSpPr>
        <p:spPr>
          <a:xfrm>
            <a:off x="711877" y="507611"/>
            <a:ext cx="1750869" cy="122634"/>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Sora Light" pitchFamily="34" charset="0"/>
                <a:ea typeface="Sora Light" pitchFamily="34" charset="-122"/>
                <a:cs typeface="Sora Light" pitchFamily="34" charset="-120"/>
              </a:rPr>
              <a:t>COURSE OUTCOME 1</a:t>
            </a:r>
            <a:endParaRPr lang="en-US" sz="800" dirty="0"/>
          </a:p>
        </p:txBody>
      </p:sp>
      <p:sp>
        <p:nvSpPr>
          <p:cNvPr id="4" name="Text 2"/>
          <p:cNvSpPr/>
          <p:nvPr/>
        </p:nvSpPr>
        <p:spPr>
          <a:xfrm>
            <a:off x="631908" y="722131"/>
            <a:ext cx="10927878" cy="438348"/>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Sora SemiBold" pitchFamily="34" charset="0"/>
                <a:ea typeface="Sora SemiBold" pitchFamily="34" charset="-122"/>
                <a:cs typeface="Sora SemiBold" pitchFamily="34" charset="-120"/>
              </a:rPr>
              <a:t>CO1 – Foundations</a:t>
            </a:r>
            <a:endParaRPr lang="en-US" sz="2750" dirty="0"/>
          </a:p>
        </p:txBody>
      </p:sp>
      <p:sp>
        <p:nvSpPr>
          <p:cNvPr id="5" name="Shape 3"/>
          <p:cNvSpPr/>
          <p:nvPr/>
        </p:nvSpPr>
        <p:spPr>
          <a:xfrm>
            <a:off x="631908" y="1351359"/>
            <a:ext cx="10927878" cy="19050"/>
          </a:xfrm>
          <a:prstGeom prst="roundRect">
            <a:avLst>
              <a:gd name="adj" fmla="val 49999"/>
            </a:avLst>
          </a:prstGeom>
          <a:solidFill>
            <a:srgbClr val="3B3535">
              <a:alpha val="50000"/>
            </a:srgbClr>
          </a:solidFill>
          <a:ln/>
        </p:spPr>
      </p:sp>
      <p:sp>
        <p:nvSpPr>
          <p:cNvPr id="6" name="Text 4"/>
          <p:cNvSpPr/>
          <p:nvPr/>
        </p:nvSpPr>
        <p:spPr>
          <a:xfrm>
            <a:off x="631908" y="1631355"/>
            <a:ext cx="6426635" cy="589359"/>
          </a:xfrm>
          <a:prstGeom prst="rect">
            <a:avLst/>
          </a:prstGeom>
          <a:noFill/>
          <a:ln/>
        </p:spPr>
        <p:txBody>
          <a:bodyPr wrap="square" lIns="0" tIns="0" rIns="0" bIns="0" rtlCol="0" anchor="t">
            <a:normAutofit/>
          </a:bodyPr>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This section covers the foundational building blocks of Java programming as applied to the Car Rental Fleet Manager. CO1 establishes the base layer upon which all subsequent logic and functionality is built.</a:t>
            </a:r>
            <a:endParaRPr lang="en-US" sz="1000" dirty="0"/>
          </a:p>
        </p:txBody>
      </p:sp>
      <p:pic>
        <p:nvPicPr>
          <p:cNvPr id="7" name="Image 0" descr="preencoded.png">    </p:cNvPr>
          <p:cNvPicPr>
            <a:picLocks noChangeAspect="1"/>
          </p:cNvPicPr>
          <p:nvPr/>
        </p:nvPicPr>
        <p:blipFill>
          <a:blip r:embed="rId1"/>
          <a:stretch>
            <a:fillRect/>
          </a:stretch>
        </p:blipFill>
        <p:spPr>
          <a:xfrm>
            <a:off x="631908" y="2347218"/>
            <a:ext cx="6426635" cy="533102"/>
          </a:xfrm>
          <a:prstGeom prst="rect">
            <a:avLst/>
          </a:prstGeom>
        </p:spPr>
      </p:pic>
      <p:sp>
        <p:nvSpPr>
          <p:cNvPr id="8" name="Text 5"/>
          <p:cNvSpPr/>
          <p:nvPr/>
        </p:nvSpPr>
        <p:spPr>
          <a:xfrm>
            <a:off x="765156" y="299273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Problem Analysis</a:t>
            </a:r>
            <a:endParaRPr lang="en-US" sz="1350" dirty="0"/>
          </a:p>
        </p:txBody>
      </p:sp>
      <p:sp>
        <p:nvSpPr>
          <p:cNvPr id="9" name="Text 6"/>
          <p:cNvSpPr/>
          <p:nvPr/>
        </p:nvSpPr>
        <p:spPr>
          <a:xfrm>
            <a:off x="765156" y="332442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Identify and decompose the rental management problem</a:t>
            </a:r>
            <a:endParaRPr lang="en-US" sz="1000" dirty="0"/>
          </a:p>
        </p:txBody>
      </p:sp>
      <p:pic>
        <p:nvPicPr>
          <p:cNvPr id="10" name="Image 1" descr="preencoded.png">    </p:cNvPr>
          <p:cNvPicPr>
            <a:picLocks noChangeAspect="1"/>
          </p:cNvPicPr>
          <p:nvPr/>
        </p:nvPicPr>
        <p:blipFill>
          <a:blip r:embed="rId2"/>
          <a:stretch>
            <a:fillRect/>
          </a:stretch>
        </p:blipFill>
        <p:spPr>
          <a:xfrm>
            <a:off x="631908" y="3654127"/>
            <a:ext cx="6426635" cy="533102"/>
          </a:xfrm>
          <a:prstGeom prst="rect">
            <a:avLst/>
          </a:prstGeom>
        </p:spPr>
      </p:pic>
      <p:sp>
        <p:nvSpPr>
          <p:cNvPr id="11" name="Text 7"/>
          <p:cNvSpPr/>
          <p:nvPr/>
        </p:nvSpPr>
        <p:spPr>
          <a:xfrm>
            <a:off x="765156" y="429964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Data Modelling</a:t>
            </a:r>
            <a:endParaRPr lang="en-US" sz="1350" dirty="0"/>
          </a:p>
        </p:txBody>
      </p:sp>
      <p:sp>
        <p:nvSpPr>
          <p:cNvPr id="12" name="Text 8"/>
          <p:cNvSpPr/>
          <p:nvPr/>
        </p:nvSpPr>
        <p:spPr>
          <a:xfrm>
            <a:off x="765156" y="463133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Choose appropriate variables and data types</a:t>
            </a:r>
            <a:endParaRPr lang="en-US" sz="1000" dirty="0"/>
          </a:p>
        </p:txBody>
      </p:sp>
      <p:pic>
        <p:nvPicPr>
          <p:cNvPr id="13" name="Image 2" descr="preencoded.png">    </p:cNvPr>
          <p:cNvPicPr>
            <a:picLocks noChangeAspect="1"/>
          </p:cNvPicPr>
          <p:nvPr/>
        </p:nvPicPr>
        <p:blipFill>
          <a:blip r:embed="rId3"/>
          <a:stretch>
            <a:fillRect/>
          </a:stretch>
        </p:blipFill>
        <p:spPr>
          <a:xfrm>
            <a:off x="631908" y="4961037"/>
            <a:ext cx="6426635" cy="533102"/>
          </a:xfrm>
          <a:prstGeom prst="rect">
            <a:avLst/>
          </a:prstGeom>
        </p:spPr>
      </p:pic>
      <p:sp>
        <p:nvSpPr>
          <p:cNvPr id="14" name="Text 9"/>
          <p:cNvSpPr/>
          <p:nvPr/>
        </p:nvSpPr>
        <p:spPr>
          <a:xfrm>
            <a:off x="765156" y="5606554"/>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I/O Operations</a:t>
            </a:r>
            <a:endParaRPr lang="en-US" sz="1350" dirty="0"/>
          </a:p>
        </p:txBody>
      </p:sp>
      <p:sp>
        <p:nvSpPr>
          <p:cNvPr id="15" name="Text 10"/>
          <p:cNvSpPr/>
          <p:nvPr/>
        </p:nvSpPr>
        <p:spPr>
          <a:xfrm>
            <a:off x="765156" y="5938242"/>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Implement Scanner input and console output</a:t>
            </a:r>
            <a:endParaRPr lang="en-US" sz="1000" dirty="0"/>
          </a:p>
        </p:txBody>
      </p:sp>
      <p:sp>
        <p:nvSpPr>
          <p:cNvPr id="16" name="Shape 11"/>
          <p:cNvSpPr/>
          <p:nvPr/>
        </p:nvSpPr>
        <p:spPr>
          <a:xfrm>
            <a:off x="7294082" y="1530152"/>
            <a:ext cx="4368095" cy="4864298"/>
          </a:xfrm>
          <a:prstGeom prst="roundRect">
            <a:avLst>
              <a:gd name="adj" fmla="val 2197"/>
            </a:avLst>
          </a:prstGeom>
          <a:solidFill>
            <a:srgbClr val="C7A2AC"/>
          </a:solidFill>
          <a:ln/>
        </p:spPr>
      </p:sp>
      <p:sp>
        <p:nvSpPr>
          <p:cNvPr id="17" name="Text 12"/>
          <p:cNvSpPr/>
          <p:nvPr/>
        </p:nvSpPr>
        <p:spPr>
          <a:xfrm>
            <a:off x="7427330" y="1648081"/>
            <a:ext cx="4101601" cy="219273"/>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Sora SemiBold" pitchFamily="34" charset="0"/>
                <a:ea typeface="Sora SemiBold" pitchFamily="34" charset="-122"/>
                <a:cs typeface="Sora SemiBold" pitchFamily="34" charset="-120"/>
              </a:rPr>
              <a:t>CO1 Topics Covered</a:t>
            </a:r>
            <a:endParaRPr lang="en-US" sz="1350" dirty="0"/>
          </a:p>
        </p:txBody>
      </p:sp>
      <p:sp>
        <p:nvSpPr>
          <p:cNvPr id="18" name="Text 13"/>
          <p:cNvSpPr/>
          <p:nvPr/>
        </p:nvSpPr>
        <p:spPr>
          <a:xfrm>
            <a:off x="7427330" y="1974255"/>
            <a:ext cx="4101601" cy="1610916"/>
          </a:xfrm>
          <a:prstGeom prst="rect">
            <a:avLst/>
          </a:prstGeom>
          <a:noFill/>
          <a:ln/>
        </p:spPr>
        <p:txBody>
          <a:bodyPr wrap="square" lIns="0" tIns="0" rIns="0" bIns="0" rtlCol="0" anchor="t">
            <a:normAutofit/>
          </a:bodyPr>
          <a:lstStyle/>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Variables &amp; Data Types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Constants (final keyword)</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Scanner for user input</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System.out.println() output</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Basic arithmetic operations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Java program structure &amp; syntax</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Problem decomposition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442445"/>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CO1: Foundations – Concepts &amp; Implementation</a:t>
            </a:r>
            <a:endParaRPr lang="en-US" sz="1600" dirty="0"/>
          </a:p>
        </p:txBody>
      </p:sp>
      <p:sp>
        <p:nvSpPr>
          <p:cNvPr id="3" name="Text 1"/>
          <p:cNvSpPr/>
          <p:nvPr/>
        </p:nvSpPr>
        <p:spPr>
          <a:xfrm>
            <a:off x="631908" y="795302"/>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4" name="Shape 2"/>
          <p:cNvSpPr/>
          <p:nvPr/>
        </p:nvSpPr>
        <p:spPr>
          <a:xfrm>
            <a:off x="631908" y="1009055"/>
            <a:ext cx="39488" cy="39489"/>
          </a:xfrm>
          <a:prstGeom prst="ellipse">
            <a:avLst/>
          </a:prstGeom>
          <a:solidFill>
            <a:srgbClr val="DA1B2E"/>
          </a:solidFill>
          <a:ln/>
        </p:spPr>
      </p:sp>
      <p:sp>
        <p:nvSpPr>
          <p:cNvPr id="5" name="Text 3"/>
          <p:cNvSpPr/>
          <p:nvPr/>
        </p:nvSpPr>
        <p:spPr>
          <a:xfrm>
            <a:off x="710885" y="96718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Problem Identification</a:t>
            </a:r>
            <a:endParaRPr lang="en-US" sz="800" dirty="0"/>
          </a:p>
        </p:txBody>
      </p:sp>
      <p:sp>
        <p:nvSpPr>
          <p:cNvPr id="6" name="Text 4"/>
          <p:cNvSpPr/>
          <p:nvPr/>
        </p:nvSpPr>
        <p:spPr>
          <a:xfrm>
            <a:off x="710885" y="113665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Recognizing the need to manage cars, availability, and rentals as discrete data points</a:t>
            </a:r>
            <a:endParaRPr lang="en-US" sz="600" dirty="0"/>
          </a:p>
        </p:txBody>
      </p:sp>
      <p:sp>
        <p:nvSpPr>
          <p:cNvPr id="7" name="Shape 5"/>
          <p:cNvSpPr/>
          <p:nvPr/>
        </p:nvSpPr>
        <p:spPr>
          <a:xfrm>
            <a:off x="631908" y="1352252"/>
            <a:ext cx="39488" cy="39489"/>
          </a:xfrm>
          <a:prstGeom prst="ellipse">
            <a:avLst/>
          </a:prstGeom>
          <a:solidFill>
            <a:srgbClr val="DA1B2E"/>
          </a:solidFill>
          <a:ln/>
        </p:spPr>
      </p:sp>
      <p:sp>
        <p:nvSpPr>
          <p:cNvPr id="8" name="Text 6"/>
          <p:cNvSpPr/>
          <p:nvPr/>
        </p:nvSpPr>
        <p:spPr>
          <a:xfrm>
            <a:off x="710885" y="131038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Variables &amp; Data Types</a:t>
            </a:r>
            <a:endParaRPr lang="en-US" sz="800" dirty="0"/>
          </a:p>
        </p:txBody>
      </p:sp>
      <p:sp>
        <p:nvSpPr>
          <p:cNvPr id="9" name="Text 7"/>
          <p:cNvSpPr/>
          <p:nvPr/>
        </p:nvSpPr>
        <p:spPr>
          <a:xfrm>
            <a:off x="710885" y="1479848"/>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int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for car ID &amp; days,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String</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for model,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double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for rates,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boolean</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for availability</a:t>
            </a:r>
            <a:endParaRPr lang="en-US" sz="600" dirty="0"/>
          </a:p>
        </p:txBody>
      </p:sp>
      <p:sp>
        <p:nvSpPr>
          <p:cNvPr id="10" name="Shape 8"/>
          <p:cNvSpPr/>
          <p:nvPr/>
        </p:nvSpPr>
        <p:spPr>
          <a:xfrm>
            <a:off x="631908" y="1695450"/>
            <a:ext cx="39488" cy="39489"/>
          </a:xfrm>
          <a:prstGeom prst="ellipse">
            <a:avLst/>
          </a:prstGeom>
          <a:solidFill>
            <a:srgbClr val="DA1B2E"/>
          </a:solidFill>
          <a:ln/>
        </p:spPr>
      </p:sp>
      <p:sp>
        <p:nvSpPr>
          <p:cNvPr id="11" name="Text 9"/>
          <p:cNvSpPr/>
          <p:nvPr/>
        </p:nvSpPr>
        <p:spPr>
          <a:xfrm>
            <a:off x="710885" y="1653580"/>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Constants</a:t>
            </a:r>
            <a:endParaRPr lang="en-US" sz="800" dirty="0"/>
          </a:p>
        </p:txBody>
      </p:sp>
      <p:sp>
        <p:nvSpPr>
          <p:cNvPr id="12" name="Text 10"/>
          <p:cNvSpPr/>
          <p:nvPr/>
        </p:nvSpPr>
        <p:spPr>
          <a:xfrm>
            <a:off x="710885" y="182304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final double GST_RATE = 0.18</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 fixed value representing 18% GST on rental cost</a:t>
            </a:r>
            <a:endParaRPr lang="en-US" sz="600" dirty="0"/>
          </a:p>
        </p:txBody>
      </p:sp>
      <p:sp>
        <p:nvSpPr>
          <p:cNvPr id="13" name="Shape 11"/>
          <p:cNvSpPr/>
          <p:nvPr/>
        </p:nvSpPr>
        <p:spPr>
          <a:xfrm>
            <a:off x="631908" y="2038648"/>
            <a:ext cx="39488" cy="39489"/>
          </a:xfrm>
          <a:prstGeom prst="ellipse">
            <a:avLst/>
          </a:prstGeom>
          <a:solidFill>
            <a:srgbClr val="DA1B2E"/>
          </a:solidFill>
          <a:ln/>
        </p:spPr>
      </p:sp>
      <p:sp>
        <p:nvSpPr>
          <p:cNvPr id="14" name="Text 12"/>
          <p:cNvSpPr/>
          <p:nvPr/>
        </p:nvSpPr>
        <p:spPr>
          <a:xfrm>
            <a:off x="710885" y="199677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Input / Output</a:t>
            </a:r>
            <a:endParaRPr lang="en-US" sz="800" dirty="0"/>
          </a:p>
        </p:txBody>
      </p:sp>
      <p:sp>
        <p:nvSpPr>
          <p:cNvPr id="15" name="Text 13"/>
          <p:cNvSpPr/>
          <p:nvPr/>
        </p:nvSpPr>
        <p:spPr>
          <a:xfrm>
            <a:off x="710885" y="216624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Scanner class reads user input;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System.out.println()</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displays results to console</a:t>
            </a:r>
            <a:endParaRPr lang="en-US" sz="600" dirty="0"/>
          </a:p>
        </p:txBody>
      </p:sp>
      <p:sp>
        <p:nvSpPr>
          <p:cNvPr id="16" name="Shape 14"/>
          <p:cNvSpPr/>
          <p:nvPr/>
        </p:nvSpPr>
        <p:spPr>
          <a:xfrm>
            <a:off x="631908" y="2305348"/>
            <a:ext cx="4033042" cy="205284"/>
          </a:xfrm>
          <a:prstGeom prst="roundRect">
            <a:avLst>
              <a:gd name="adj" fmla="val 16161"/>
            </a:avLst>
          </a:prstGeom>
          <a:solidFill>
            <a:srgbClr val="F9D2D6"/>
          </a:solidFill>
          <a:ln/>
        </p:spPr>
      </p:sp>
      <p:pic>
        <p:nvPicPr>
          <p:cNvPr id="17" name="Image 0" descr="preencoded.png">    </p:cNvPr>
          <p:cNvPicPr>
            <a:picLocks noChangeAspect="1"/>
          </p:cNvPicPr>
          <p:nvPr/>
        </p:nvPicPr>
        <p:blipFill>
          <a:blip r:embed="rId1"/>
          <a:stretch>
            <a:fillRect/>
          </a:stretch>
        </p:blipFill>
        <p:spPr>
          <a:xfrm>
            <a:off x="710885" y="2365276"/>
            <a:ext cx="98720" cy="78978"/>
          </a:xfrm>
          <a:prstGeom prst="rect">
            <a:avLst/>
          </a:prstGeom>
        </p:spPr>
      </p:pic>
      <p:sp>
        <p:nvSpPr>
          <p:cNvPr id="18" name="Text 15"/>
          <p:cNvSpPr/>
          <p:nvPr/>
        </p:nvSpPr>
        <p:spPr>
          <a:xfrm>
            <a:off x="888581" y="2362315"/>
            <a:ext cx="4306978" cy="94754"/>
          </a:xfrm>
          <a:prstGeom prst="rect">
            <a:avLst/>
          </a:prstGeom>
          <a:noFill/>
          <a:ln/>
        </p:spPr>
        <p:txBody>
          <a:bodyPr wrap="none" lIns="0" tIns="0" rIns="0" bIns="0" rtlCol="0" anchor="t"/>
          <a:lstStyle/>
          <a:p>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All variable names are kept consistent across CO1, CO2, and CO3 for clarity during viva.</a:t>
            </a:r>
            <a:endParaRPr lang="en-US" sz="600" dirty="0"/>
          </a:p>
        </p:txBody>
      </p:sp>
      <p:sp>
        <p:nvSpPr>
          <p:cNvPr id="19" name="Text 16"/>
          <p:cNvSpPr/>
          <p:nvPr/>
        </p:nvSpPr>
        <p:spPr>
          <a:xfrm>
            <a:off x="4863978" y="795302"/>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CO1: Variables, I/O &amp; Basic Calculation</a:t>
            </a:r>
            <a:endParaRPr lang="en-US" sz="800" dirty="0"/>
          </a:p>
        </p:txBody>
      </p:sp>
      <p:sp>
        <p:nvSpPr>
          <p:cNvPr id="20" name="Shape 17"/>
          <p:cNvSpPr/>
          <p:nvPr/>
        </p:nvSpPr>
        <p:spPr>
          <a:xfrm>
            <a:off x="4863978" y="967184"/>
            <a:ext cx="6702059" cy="4326037"/>
          </a:xfrm>
          <a:prstGeom prst="roundRect">
            <a:avLst>
              <a:gd name="adj" fmla="val 767"/>
            </a:avLst>
          </a:prstGeom>
          <a:solidFill>
            <a:srgbClr val="F2F2F2"/>
          </a:solidFill>
          <a:ln/>
        </p:spPr>
      </p:sp>
      <p:sp>
        <p:nvSpPr>
          <p:cNvPr id="21" name="Text 18"/>
          <p:cNvSpPr/>
          <p:nvPr/>
        </p:nvSpPr>
        <p:spPr>
          <a:xfrm>
            <a:off x="4958730" y="1046163"/>
            <a:ext cx="6512556" cy="4168080"/>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import java.util.Scanner;</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public class CarRentalFleetManager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Scanner sc = new Scanner(System.in);</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 Variables and Data Types</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String carModel  = "Toyota Fortuner";</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int    carId     = 101;</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double dailyRate = 2500.0;  // in rupees</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boolean isAvailable = true;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 Constant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final double GST_RATE = 0.18;</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 Output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 Car Rental Fleet Manager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System.out.println("Car ID   : " + carId);</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System.out.println("Model    : " + carModel);</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System.out.println("Daily Rate: Rs. " + dailyRate);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System.out.println("Available : " + isAvailable);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 Input and Calculation</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System.out.print("Enter rental days: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int days = sc.nextInt();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double totalCost  = dailyRate * days;</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double gstAmount  = totalCost * GST_RATE;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double finalCost  = totalCost + gstAmount;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System.out.println("Total Cost (incl. GST): Rs. " + finalCost);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a:t>
            </a:r>
            <a:endParaRPr lang="en-US" sz="600" dirty="0"/>
          </a:p>
        </p:txBody>
      </p:sp>
      <p:sp>
        <p:nvSpPr>
          <p:cNvPr id="22" name="Text 19"/>
          <p:cNvSpPr/>
          <p:nvPr/>
        </p:nvSpPr>
        <p:spPr>
          <a:xfrm>
            <a:off x="4863978" y="5340017"/>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23" name="Shape 20"/>
          <p:cNvSpPr/>
          <p:nvPr/>
        </p:nvSpPr>
        <p:spPr>
          <a:xfrm>
            <a:off x="4863978" y="5511899"/>
            <a:ext cx="6702059" cy="1042095"/>
          </a:xfrm>
          <a:prstGeom prst="roundRect">
            <a:avLst>
              <a:gd name="adj" fmla="val 3184"/>
            </a:avLst>
          </a:prstGeom>
          <a:solidFill>
            <a:srgbClr val="F2F2F2"/>
          </a:solidFill>
          <a:ln/>
        </p:spPr>
      </p:sp>
      <p:sp>
        <p:nvSpPr>
          <p:cNvPr id="24" name="Text 21"/>
          <p:cNvSpPr/>
          <p:nvPr/>
        </p:nvSpPr>
        <p:spPr>
          <a:xfrm>
            <a:off x="4958730" y="5590877"/>
            <a:ext cx="6512556" cy="884138"/>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 Car Rental Fleet Manager ===</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Car ID : 101</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Model : Toyota Fortuner</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Daily Rate: Rs. 2500.0</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Available : true</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Enter rental days: 3</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Total Cost (incl. GST): Rs. 8850.0</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31908" y="463550"/>
            <a:ext cx="1322354" cy="202605"/>
          </a:xfrm>
          <a:prstGeom prst="roundRect">
            <a:avLst>
              <a:gd name="adj" fmla="val 22106"/>
            </a:avLst>
          </a:prstGeom>
          <a:solidFill>
            <a:srgbClr val="F9D2D6"/>
          </a:solidFill>
          <a:ln/>
        </p:spPr>
      </p:sp>
      <p:sp>
        <p:nvSpPr>
          <p:cNvPr id="3" name="Text 1"/>
          <p:cNvSpPr/>
          <p:nvPr/>
        </p:nvSpPr>
        <p:spPr>
          <a:xfrm>
            <a:off x="711877" y="507611"/>
            <a:ext cx="1772003" cy="122634"/>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Sora Light" pitchFamily="34" charset="0"/>
                <a:ea typeface="Sora Light" pitchFamily="34" charset="-122"/>
                <a:cs typeface="Sora Light" pitchFamily="34" charset="-120"/>
              </a:rPr>
              <a:t>COURSE OUTCOME 2</a:t>
            </a:r>
            <a:endParaRPr lang="en-US" sz="800" dirty="0"/>
          </a:p>
        </p:txBody>
      </p:sp>
      <p:sp>
        <p:nvSpPr>
          <p:cNvPr id="4" name="Text 2"/>
          <p:cNvSpPr/>
          <p:nvPr/>
        </p:nvSpPr>
        <p:spPr>
          <a:xfrm>
            <a:off x="631908" y="722131"/>
            <a:ext cx="10927878" cy="438348"/>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Sora SemiBold" pitchFamily="34" charset="0"/>
                <a:ea typeface="Sora SemiBold" pitchFamily="34" charset="-122"/>
                <a:cs typeface="Sora SemiBold" pitchFamily="34" charset="-120"/>
              </a:rPr>
              <a:t>CO2 – Control Flow</a:t>
            </a:r>
            <a:endParaRPr lang="en-US" sz="2750" dirty="0"/>
          </a:p>
        </p:txBody>
      </p:sp>
      <p:sp>
        <p:nvSpPr>
          <p:cNvPr id="5" name="Shape 3"/>
          <p:cNvSpPr/>
          <p:nvPr/>
        </p:nvSpPr>
        <p:spPr>
          <a:xfrm>
            <a:off x="631908" y="1351359"/>
            <a:ext cx="10927878" cy="19050"/>
          </a:xfrm>
          <a:prstGeom prst="roundRect">
            <a:avLst>
              <a:gd name="adj" fmla="val 49999"/>
            </a:avLst>
          </a:prstGeom>
          <a:solidFill>
            <a:srgbClr val="3B3535">
              <a:alpha val="50000"/>
            </a:srgbClr>
          </a:solidFill>
          <a:ln/>
        </p:spPr>
      </p:sp>
      <p:sp>
        <p:nvSpPr>
          <p:cNvPr id="6" name="Text 4"/>
          <p:cNvSpPr/>
          <p:nvPr/>
        </p:nvSpPr>
        <p:spPr>
          <a:xfrm>
            <a:off x="631908" y="1631355"/>
            <a:ext cx="6426635" cy="589359"/>
          </a:xfrm>
          <a:prstGeom prst="rect">
            <a:avLst/>
          </a:prstGeom>
          <a:noFill/>
          <a:ln/>
        </p:spPr>
        <p:txBody>
          <a:bodyPr wrap="square" lIns="0" tIns="0" rIns="0" bIns="0" rtlCol="0" anchor="t">
            <a:normAutofit/>
          </a:bodyPr>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CO2 introduces decision-making and repetition into the Car Rental Fleet Manager. Control flow structures allow the system to respond dynamically to user choices, validate car availability, and keep the menu running until the user explicitly exits.</a:t>
            </a:r>
            <a:endParaRPr lang="en-US" sz="1000" dirty="0"/>
          </a:p>
        </p:txBody>
      </p:sp>
      <p:pic>
        <p:nvPicPr>
          <p:cNvPr id="7" name="Image 0" descr="preencoded.png">    </p:cNvPr>
          <p:cNvPicPr>
            <a:picLocks noChangeAspect="1"/>
          </p:cNvPicPr>
          <p:nvPr/>
        </p:nvPicPr>
        <p:blipFill>
          <a:blip r:embed="rId1"/>
          <a:stretch>
            <a:fillRect/>
          </a:stretch>
        </p:blipFill>
        <p:spPr>
          <a:xfrm>
            <a:off x="631908" y="2347218"/>
            <a:ext cx="6426635" cy="533102"/>
          </a:xfrm>
          <a:prstGeom prst="rect">
            <a:avLst/>
          </a:prstGeom>
        </p:spPr>
      </p:pic>
      <p:sp>
        <p:nvSpPr>
          <p:cNvPr id="8" name="Text 5"/>
          <p:cNvSpPr/>
          <p:nvPr/>
        </p:nvSpPr>
        <p:spPr>
          <a:xfrm>
            <a:off x="765156" y="299273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Decisions</a:t>
            </a:r>
            <a:endParaRPr lang="en-US" sz="1350" dirty="0"/>
          </a:p>
        </p:txBody>
      </p:sp>
      <p:sp>
        <p:nvSpPr>
          <p:cNvPr id="9" name="Text 6"/>
          <p:cNvSpPr/>
          <p:nvPr/>
        </p:nvSpPr>
        <p:spPr>
          <a:xfrm>
            <a:off x="765156" y="332442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if / if-else / else-if for availability checks and car type logic</a:t>
            </a:r>
            <a:endParaRPr lang="en-US" sz="1000" dirty="0"/>
          </a:p>
        </p:txBody>
      </p:sp>
      <p:pic>
        <p:nvPicPr>
          <p:cNvPr id="10" name="Image 1" descr="preencoded.png">    </p:cNvPr>
          <p:cNvPicPr>
            <a:picLocks noChangeAspect="1"/>
          </p:cNvPicPr>
          <p:nvPr/>
        </p:nvPicPr>
        <p:blipFill>
          <a:blip r:embed="rId2"/>
          <a:stretch>
            <a:fillRect/>
          </a:stretch>
        </p:blipFill>
        <p:spPr>
          <a:xfrm>
            <a:off x="631908" y="3654127"/>
            <a:ext cx="6426635" cy="533102"/>
          </a:xfrm>
          <a:prstGeom prst="rect">
            <a:avLst/>
          </a:prstGeom>
        </p:spPr>
      </p:pic>
      <p:sp>
        <p:nvSpPr>
          <p:cNvPr id="11" name="Text 7"/>
          <p:cNvSpPr/>
          <p:nvPr/>
        </p:nvSpPr>
        <p:spPr>
          <a:xfrm>
            <a:off x="765156" y="429964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Selection</a:t>
            </a:r>
            <a:endParaRPr lang="en-US" sz="1350" dirty="0"/>
          </a:p>
        </p:txBody>
      </p:sp>
      <p:sp>
        <p:nvSpPr>
          <p:cNvPr id="12" name="Text 8"/>
          <p:cNvSpPr/>
          <p:nvPr/>
        </p:nvSpPr>
        <p:spPr>
          <a:xfrm>
            <a:off x="765156" y="463133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switch statement for menu-driven operation selection</a:t>
            </a:r>
            <a:endParaRPr lang="en-US" sz="1000" dirty="0"/>
          </a:p>
        </p:txBody>
      </p:sp>
      <p:pic>
        <p:nvPicPr>
          <p:cNvPr id="13" name="Image 2" descr="preencoded.png">    </p:cNvPr>
          <p:cNvPicPr>
            <a:picLocks noChangeAspect="1"/>
          </p:cNvPicPr>
          <p:nvPr/>
        </p:nvPicPr>
        <p:blipFill>
          <a:blip r:embed="rId3"/>
          <a:stretch>
            <a:fillRect/>
          </a:stretch>
        </p:blipFill>
        <p:spPr>
          <a:xfrm>
            <a:off x="631908" y="4961037"/>
            <a:ext cx="6426635" cy="533102"/>
          </a:xfrm>
          <a:prstGeom prst="rect">
            <a:avLst/>
          </a:prstGeom>
        </p:spPr>
      </p:pic>
      <p:sp>
        <p:nvSpPr>
          <p:cNvPr id="14" name="Text 9"/>
          <p:cNvSpPr/>
          <p:nvPr/>
        </p:nvSpPr>
        <p:spPr>
          <a:xfrm>
            <a:off x="765156" y="5606554"/>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Repetition</a:t>
            </a:r>
            <a:endParaRPr lang="en-US" sz="1350" dirty="0"/>
          </a:p>
        </p:txBody>
      </p:sp>
      <p:sp>
        <p:nvSpPr>
          <p:cNvPr id="15" name="Text 10"/>
          <p:cNvSpPr/>
          <p:nvPr/>
        </p:nvSpPr>
        <p:spPr>
          <a:xfrm>
            <a:off x="765156" y="5938242"/>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for, while, do-while loops for fleet display and continuous menu</a:t>
            </a:r>
            <a:endParaRPr lang="en-US" sz="1000" dirty="0"/>
          </a:p>
        </p:txBody>
      </p:sp>
      <p:sp>
        <p:nvSpPr>
          <p:cNvPr id="16" name="Shape 11"/>
          <p:cNvSpPr/>
          <p:nvPr/>
        </p:nvSpPr>
        <p:spPr>
          <a:xfrm>
            <a:off x="7294082" y="1530152"/>
            <a:ext cx="4368095" cy="4864298"/>
          </a:xfrm>
          <a:prstGeom prst="roundRect">
            <a:avLst>
              <a:gd name="adj" fmla="val 2197"/>
            </a:avLst>
          </a:prstGeom>
          <a:solidFill>
            <a:srgbClr val="C7A2AC"/>
          </a:solidFill>
          <a:ln/>
        </p:spPr>
      </p:sp>
      <p:sp>
        <p:nvSpPr>
          <p:cNvPr id="17" name="Text 12"/>
          <p:cNvSpPr/>
          <p:nvPr/>
        </p:nvSpPr>
        <p:spPr>
          <a:xfrm>
            <a:off x="7427330" y="1648081"/>
            <a:ext cx="4101601" cy="219273"/>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Sora SemiBold" pitchFamily="34" charset="0"/>
                <a:ea typeface="Sora SemiBold" pitchFamily="34" charset="-122"/>
                <a:cs typeface="Sora SemiBold" pitchFamily="34" charset="-120"/>
              </a:rPr>
              <a:t>CO2 Topics Covered</a:t>
            </a:r>
            <a:endParaRPr lang="en-US" sz="1350" dirty="0"/>
          </a:p>
        </p:txBody>
      </p:sp>
      <p:sp>
        <p:nvSpPr>
          <p:cNvPr id="18" name="Text 13"/>
          <p:cNvSpPr/>
          <p:nvPr/>
        </p:nvSpPr>
        <p:spPr>
          <a:xfrm>
            <a:off x="7427330" y="1974255"/>
            <a:ext cx="4101601" cy="1610916"/>
          </a:xfrm>
          <a:prstGeom prst="rect">
            <a:avLst/>
          </a:prstGeom>
          <a:noFill/>
          <a:ln/>
        </p:spPr>
        <p:txBody>
          <a:bodyPr wrap="square" lIns="0" tIns="0" rIns="0" bIns="0" rtlCol="0" anchor="t">
            <a:normAutofit/>
          </a:bodyPr>
          <a:lstStyle/>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if statement — availability check</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if-else — rent or show error</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else-if — car type / duration tiers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switch — menu selection (1–4)</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for loop — display all fleet cars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while loop — keep menu active</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do-while — at least one operation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1908" y="442445"/>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CO2: Control Flow – Concepts &amp; Implementation</a:t>
            </a:r>
            <a:endParaRPr lang="en-US" sz="1600" dirty="0"/>
          </a:p>
        </p:txBody>
      </p:sp>
      <p:sp>
        <p:nvSpPr>
          <p:cNvPr id="3" name="Text 1"/>
          <p:cNvSpPr/>
          <p:nvPr/>
        </p:nvSpPr>
        <p:spPr>
          <a:xfrm>
            <a:off x="631908" y="795302"/>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4" name="Shape 2"/>
          <p:cNvSpPr/>
          <p:nvPr/>
        </p:nvSpPr>
        <p:spPr>
          <a:xfrm>
            <a:off x="631908" y="1009055"/>
            <a:ext cx="39488" cy="39489"/>
          </a:xfrm>
          <a:prstGeom prst="ellipse">
            <a:avLst/>
          </a:prstGeom>
          <a:solidFill>
            <a:srgbClr val="DA1B2E"/>
          </a:solidFill>
          <a:ln/>
        </p:spPr>
      </p:sp>
      <p:sp>
        <p:nvSpPr>
          <p:cNvPr id="5" name="Text 3"/>
          <p:cNvSpPr/>
          <p:nvPr/>
        </p:nvSpPr>
        <p:spPr>
          <a:xfrm>
            <a:off x="710885" y="96718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if / if-else</a:t>
            </a:r>
            <a:endParaRPr lang="en-US" sz="800" dirty="0"/>
          </a:p>
        </p:txBody>
      </p:sp>
      <p:sp>
        <p:nvSpPr>
          <p:cNvPr id="6" name="Text 4"/>
          <p:cNvSpPr/>
          <p:nvPr/>
        </p:nvSpPr>
        <p:spPr>
          <a:xfrm>
            <a:off x="710885" y="113665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Check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isAvailable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before processing a rental; show error if car is already booked</a:t>
            </a:r>
            <a:endParaRPr lang="en-US" sz="600" dirty="0"/>
          </a:p>
        </p:txBody>
      </p:sp>
      <p:sp>
        <p:nvSpPr>
          <p:cNvPr id="7" name="Shape 5"/>
          <p:cNvSpPr/>
          <p:nvPr/>
        </p:nvSpPr>
        <p:spPr>
          <a:xfrm>
            <a:off x="631908" y="1352252"/>
            <a:ext cx="39488" cy="39489"/>
          </a:xfrm>
          <a:prstGeom prst="ellipse">
            <a:avLst/>
          </a:prstGeom>
          <a:solidFill>
            <a:srgbClr val="DA1B2E"/>
          </a:solidFill>
          <a:ln/>
        </p:spPr>
      </p:sp>
      <p:sp>
        <p:nvSpPr>
          <p:cNvPr id="8" name="Text 6"/>
          <p:cNvSpPr/>
          <p:nvPr/>
        </p:nvSpPr>
        <p:spPr>
          <a:xfrm>
            <a:off x="710885" y="131038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switch Statement</a:t>
            </a:r>
            <a:endParaRPr lang="en-US" sz="800" dirty="0"/>
          </a:p>
        </p:txBody>
      </p:sp>
      <p:sp>
        <p:nvSpPr>
          <p:cNvPr id="9" name="Text 7"/>
          <p:cNvSpPr/>
          <p:nvPr/>
        </p:nvSpPr>
        <p:spPr>
          <a:xfrm>
            <a:off x="710885" y="1479848"/>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Routes user to Rent (1), Return (2), View Cars (3), or Exit (4) based on menu input</a:t>
            </a:r>
            <a:endParaRPr lang="en-US" sz="600" dirty="0"/>
          </a:p>
        </p:txBody>
      </p:sp>
      <p:sp>
        <p:nvSpPr>
          <p:cNvPr id="10" name="Shape 8"/>
          <p:cNvSpPr/>
          <p:nvPr/>
        </p:nvSpPr>
        <p:spPr>
          <a:xfrm>
            <a:off x="631908" y="1695450"/>
            <a:ext cx="39488" cy="39489"/>
          </a:xfrm>
          <a:prstGeom prst="ellipse">
            <a:avLst/>
          </a:prstGeom>
          <a:solidFill>
            <a:srgbClr val="DA1B2E"/>
          </a:solidFill>
          <a:ln/>
        </p:spPr>
      </p:sp>
      <p:sp>
        <p:nvSpPr>
          <p:cNvPr id="11" name="Text 9"/>
          <p:cNvSpPr/>
          <p:nvPr/>
        </p:nvSpPr>
        <p:spPr>
          <a:xfrm>
            <a:off x="710885" y="1653580"/>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while Loop</a:t>
            </a:r>
            <a:endParaRPr lang="en-US" sz="800" dirty="0"/>
          </a:p>
        </p:txBody>
      </p:sp>
      <p:sp>
        <p:nvSpPr>
          <p:cNvPr id="12" name="Text 10"/>
          <p:cNvSpPr/>
          <p:nvPr/>
        </p:nvSpPr>
        <p:spPr>
          <a:xfrm>
            <a:off x="710885" y="182304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while(true)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keeps the menu active;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return</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inside case 4 exits cleanly</a:t>
            </a:r>
            <a:endParaRPr lang="en-US" sz="600" dirty="0"/>
          </a:p>
        </p:txBody>
      </p:sp>
      <p:sp>
        <p:nvSpPr>
          <p:cNvPr id="13" name="Shape 11"/>
          <p:cNvSpPr/>
          <p:nvPr/>
        </p:nvSpPr>
        <p:spPr>
          <a:xfrm>
            <a:off x="631908" y="2038648"/>
            <a:ext cx="39488" cy="39489"/>
          </a:xfrm>
          <a:prstGeom prst="ellipse">
            <a:avLst/>
          </a:prstGeom>
          <a:solidFill>
            <a:srgbClr val="DA1B2E"/>
          </a:solidFill>
          <a:ln/>
        </p:spPr>
      </p:sp>
      <p:sp>
        <p:nvSpPr>
          <p:cNvPr id="14" name="Text 12"/>
          <p:cNvSpPr/>
          <p:nvPr/>
        </p:nvSpPr>
        <p:spPr>
          <a:xfrm>
            <a:off x="710885" y="199677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for Loop</a:t>
            </a:r>
            <a:endParaRPr lang="en-US" sz="800" dirty="0"/>
          </a:p>
        </p:txBody>
      </p:sp>
      <p:sp>
        <p:nvSpPr>
          <p:cNvPr id="15" name="Text 13"/>
          <p:cNvSpPr/>
          <p:nvPr/>
        </p:nvSpPr>
        <p:spPr>
          <a:xfrm>
            <a:off x="710885" y="216624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Iterates over fleet array indices to display all available cars in sequence</a:t>
            </a:r>
            <a:endParaRPr lang="en-US" sz="600" dirty="0"/>
          </a:p>
        </p:txBody>
      </p:sp>
      <p:sp>
        <p:nvSpPr>
          <p:cNvPr id="16" name="Shape 14"/>
          <p:cNvSpPr/>
          <p:nvPr/>
        </p:nvSpPr>
        <p:spPr>
          <a:xfrm>
            <a:off x="631908" y="2305348"/>
            <a:ext cx="4033042" cy="300038"/>
          </a:xfrm>
          <a:prstGeom prst="roundRect">
            <a:avLst>
              <a:gd name="adj" fmla="val 11057"/>
            </a:avLst>
          </a:prstGeom>
          <a:solidFill>
            <a:srgbClr val="F9D2D6"/>
          </a:solidFill>
          <a:ln/>
        </p:spPr>
      </p:sp>
      <p:pic>
        <p:nvPicPr>
          <p:cNvPr id="17" name="Image 0" descr="preencoded.png">    </p:cNvPr>
          <p:cNvPicPr>
            <a:picLocks noChangeAspect="1"/>
          </p:cNvPicPr>
          <p:nvPr/>
        </p:nvPicPr>
        <p:blipFill>
          <a:blip r:embed="rId1"/>
          <a:stretch>
            <a:fillRect/>
          </a:stretch>
        </p:blipFill>
        <p:spPr>
          <a:xfrm>
            <a:off x="710885" y="2365276"/>
            <a:ext cx="98720" cy="78978"/>
          </a:xfrm>
          <a:prstGeom prst="rect">
            <a:avLst/>
          </a:prstGeom>
        </p:spPr>
      </p:pic>
      <p:sp>
        <p:nvSpPr>
          <p:cNvPr id="18" name="Text 15"/>
          <p:cNvSpPr/>
          <p:nvPr/>
        </p:nvSpPr>
        <p:spPr>
          <a:xfrm>
            <a:off x="888581" y="2362315"/>
            <a:ext cx="3697393" cy="189508"/>
          </a:xfrm>
          <a:prstGeom prst="rect">
            <a:avLst/>
          </a:prstGeom>
          <a:noFill/>
          <a:ln/>
        </p:spPr>
        <p:txBody>
          <a:bodyPr wrap="square" lIns="0" tIns="0" rIns="0" bIns="0" rtlCol="0" anchor="t">
            <a:normAutofit/>
          </a:bodyPr>
          <a:lstStyle/>
          <a:p>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The switch + while combination is the backbone of any menu-driven Java console application.</a:t>
            </a:r>
            <a:endParaRPr lang="en-US" sz="600" dirty="0"/>
          </a:p>
        </p:txBody>
      </p:sp>
      <p:sp>
        <p:nvSpPr>
          <p:cNvPr id="19" name="Text 16"/>
          <p:cNvSpPr/>
          <p:nvPr/>
        </p:nvSpPr>
        <p:spPr>
          <a:xfrm>
            <a:off x="4863978" y="795302"/>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CO2: Control Flow &amp; Menu System</a:t>
            </a:r>
            <a:endParaRPr lang="en-US" sz="800" dirty="0"/>
          </a:p>
        </p:txBody>
      </p:sp>
      <p:sp>
        <p:nvSpPr>
          <p:cNvPr id="20" name="Shape 17"/>
          <p:cNvSpPr/>
          <p:nvPr/>
        </p:nvSpPr>
        <p:spPr>
          <a:xfrm>
            <a:off x="4863978" y="967184"/>
            <a:ext cx="6702059" cy="4957564"/>
          </a:xfrm>
          <a:prstGeom prst="roundRect">
            <a:avLst>
              <a:gd name="adj" fmla="val 669"/>
            </a:avLst>
          </a:prstGeom>
          <a:solidFill>
            <a:srgbClr val="F2F2F2"/>
          </a:solidFill>
          <a:ln/>
        </p:spPr>
      </p:sp>
      <p:sp>
        <p:nvSpPr>
          <p:cNvPr id="21" name="Text 18"/>
          <p:cNvSpPr/>
          <p:nvPr/>
        </p:nvSpPr>
        <p:spPr>
          <a:xfrm>
            <a:off x="4958730" y="1046163"/>
            <a:ext cx="6512556" cy="4799608"/>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Availability check (if-else)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if (isAvailable)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System.out.println("Car is available for rental.");</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else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System.out.println("Car is not available.");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Menu-driven system (switch inside while loop)</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int choice;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while (true)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System.out.println("\n=== Menu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System.out.println("1. Rent Car");</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System.out.println("2. Return Car");</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System.out.println("3. View Cars");</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System.out.println("4. Exit");</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System.out.print("Enter choice: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choice = sc.nextInt();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switch (choice)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case 1:</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System.out.println("Processing rental...");</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isAvailable = false;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break;</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case 2:</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System.out.println("Processing return...");</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isAvailable = true;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break;</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case 3:</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 Display all cars (for loop)</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for (int i = 0; i &lt; 3; i++)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System.out.println("Car " + (i+1) + " available");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break;</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case 4:</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System.out.println("Exiting...");</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return;</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a:t>
            </a:r>
            <a:endParaRPr lang="en-US" sz="600" dirty="0"/>
          </a:p>
        </p:txBody>
      </p:sp>
      <p:sp>
        <p:nvSpPr>
          <p:cNvPr id="22" name="Text 19"/>
          <p:cNvSpPr/>
          <p:nvPr/>
        </p:nvSpPr>
        <p:spPr>
          <a:xfrm>
            <a:off x="4863978" y="5971544"/>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 (sample run)</a:t>
            </a:r>
            <a:endParaRPr lang="en-US" sz="800" dirty="0"/>
          </a:p>
        </p:txBody>
      </p:sp>
      <p:sp>
        <p:nvSpPr>
          <p:cNvPr id="23" name="Shape 20"/>
          <p:cNvSpPr/>
          <p:nvPr/>
        </p:nvSpPr>
        <p:spPr>
          <a:xfrm>
            <a:off x="4863978" y="6143427"/>
            <a:ext cx="6702059" cy="1421011"/>
          </a:xfrm>
          <a:prstGeom prst="roundRect">
            <a:avLst>
              <a:gd name="adj" fmla="val 2335"/>
            </a:avLst>
          </a:prstGeom>
          <a:solidFill>
            <a:srgbClr val="F2F2F2"/>
          </a:solidFill>
          <a:ln/>
        </p:spPr>
      </p:sp>
      <p:sp>
        <p:nvSpPr>
          <p:cNvPr id="24" name="Text 21"/>
          <p:cNvSpPr/>
          <p:nvPr/>
        </p:nvSpPr>
        <p:spPr>
          <a:xfrm>
            <a:off x="4958730" y="6222405"/>
            <a:ext cx="6512556" cy="1263055"/>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Menu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1. Rent Car 2. Return Car 3. View Cars 4. Exit</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Enter choice: 1</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Processing rental...</a:t>
            </a:r>
            <a:endParaRPr lang="en-US" sz="600" dirty="0"/>
          </a:p>
          <a:p>
            <a:pPr algn="l" indent="0" marL="0">
              <a:lnSpc>
                <a:spcPct val="133000"/>
              </a:lnSpc>
              <a:buNone/>
            </a:pP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 Menu ===</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Enter choice: 3</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Car 1 available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Car 2 available</a:t>
            </a:r>
            <a:endParaRPr lang="en-US" sz="600" dirty="0"/>
          </a:p>
          <a:p>
            <a:pPr algn="l" indent="0" marL="0">
              <a:lnSpc>
                <a:spcPct val="133000"/>
              </a:lnSpc>
              <a:buNone/>
            </a:pPr>
            <a:r>
              <a:rPr lang="en-US" sz="600" dirty="0">
                <a:solidFill>
                  <a:srgbClr val="6A737D"/>
                </a:solidFill>
                <a:latin typeface="Consolas" pitchFamily="34" charset="0"/>
                <a:ea typeface="Consolas" pitchFamily="34" charset="-122"/>
                <a:cs typeface="Consolas" pitchFamily="34" charset="-120"/>
              </a:rPr>
              <a:t>Car 3 available</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31908" y="463550"/>
            <a:ext cx="1321759" cy="202605"/>
          </a:xfrm>
          <a:prstGeom prst="roundRect">
            <a:avLst>
              <a:gd name="adj" fmla="val 22106"/>
            </a:avLst>
          </a:prstGeom>
          <a:solidFill>
            <a:srgbClr val="F9D2D6"/>
          </a:solidFill>
          <a:ln/>
        </p:spPr>
      </p:sp>
      <p:sp>
        <p:nvSpPr>
          <p:cNvPr id="3" name="Text 1"/>
          <p:cNvSpPr/>
          <p:nvPr/>
        </p:nvSpPr>
        <p:spPr>
          <a:xfrm>
            <a:off x="711877" y="507611"/>
            <a:ext cx="1771407" cy="122634"/>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Sora Light" pitchFamily="34" charset="0"/>
                <a:ea typeface="Sora Light" pitchFamily="34" charset="-122"/>
                <a:cs typeface="Sora Light" pitchFamily="34" charset="-120"/>
              </a:rPr>
              <a:t>COURSE OUTCOME 3</a:t>
            </a:r>
            <a:endParaRPr lang="en-US" sz="800" dirty="0"/>
          </a:p>
        </p:txBody>
      </p:sp>
      <p:sp>
        <p:nvSpPr>
          <p:cNvPr id="4" name="Text 2"/>
          <p:cNvSpPr/>
          <p:nvPr/>
        </p:nvSpPr>
        <p:spPr>
          <a:xfrm>
            <a:off x="631908" y="722131"/>
            <a:ext cx="10927878" cy="438348"/>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Sora SemiBold" pitchFamily="34" charset="0"/>
                <a:ea typeface="Sora SemiBold" pitchFamily="34" charset="-122"/>
                <a:cs typeface="Sora SemiBold" pitchFamily="34" charset="-120"/>
              </a:rPr>
              <a:t>CO3 – Methods &amp; Arrays</a:t>
            </a:r>
            <a:endParaRPr lang="en-US" sz="2750" dirty="0"/>
          </a:p>
        </p:txBody>
      </p:sp>
      <p:sp>
        <p:nvSpPr>
          <p:cNvPr id="5" name="Shape 3"/>
          <p:cNvSpPr/>
          <p:nvPr/>
        </p:nvSpPr>
        <p:spPr>
          <a:xfrm>
            <a:off x="631908" y="1351359"/>
            <a:ext cx="10927878" cy="19050"/>
          </a:xfrm>
          <a:prstGeom prst="roundRect">
            <a:avLst>
              <a:gd name="adj" fmla="val 49999"/>
            </a:avLst>
          </a:prstGeom>
          <a:solidFill>
            <a:srgbClr val="3B3535">
              <a:alpha val="50000"/>
            </a:srgbClr>
          </a:solidFill>
          <a:ln/>
        </p:spPr>
      </p:sp>
      <p:sp>
        <p:nvSpPr>
          <p:cNvPr id="6" name="Text 4"/>
          <p:cNvSpPr/>
          <p:nvPr/>
        </p:nvSpPr>
        <p:spPr>
          <a:xfrm>
            <a:off x="631908" y="1631355"/>
            <a:ext cx="6426635" cy="589359"/>
          </a:xfrm>
          <a:prstGeom prst="rect">
            <a:avLst/>
          </a:prstGeom>
          <a:noFill/>
          <a:ln/>
        </p:spPr>
        <p:txBody>
          <a:bodyPr wrap="square" lIns="0" tIns="0" rIns="0" bIns="0" rtlCol="0" anchor="t">
            <a:normAutofit/>
          </a:bodyPr>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CO3 elevates the Car Rental Fleet Manager from a single-block program into a well-structured, modular application. Methods encapsulate individual operations, while arrays provide organized storage for the entire fleet — making the system scalable and maintainable.</a:t>
            </a:r>
            <a:endParaRPr lang="en-US" sz="1000" dirty="0"/>
          </a:p>
        </p:txBody>
      </p:sp>
      <p:pic>
        <p:nvPicPr>
          <p:cNvPr id="7" name="Image 0" descr="preencoded.png">    </p:cNvPr>
          <p:cNvPicPr>
            <a:picLocks noChangeAspect="1"/>
          </p:cNvPicPr>
          <p:nvPr/>
        </p:nvPicPr>
        <p:blipFill>
          <a:blip r:embed="rId1"/>
          <a:stretch>
            <a:fillRect/>
          </a:stretch>
        </p:blipFill>
        <p:spPr>
          <a:xfrm>
            <a:off x="631908" y="2347218"/>
            <a:ext cx="6426635" cy="533102"/>
          </a:xfrm>
          <a:prstGeom prst="rect">
            <a:avLst/>
          </a:prstGeom>
        </p:spPr>
      </p:pic>
      <p:sp>
        <p:nvSpPr>
          <p:cNvPr id="8" name="Text 5"/>
          <p:cNvSpPr/>
          <p:nvPr/>
        </p:nvSpPr>
        <p:spPr>
          <a:xfrm>
            <a:off x="765156" y="299273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Arrays</a:t>
            </a:r>
            <a:endParaRPr lang="en-US" sz="1350" dirty="0"/>
          </a:p>
        </p:txBody>
      </p:sp>
      <p:sp>
        <p:nvSpPr>
          <p:cNvPr id="9" name="Text 6"/>
          <p:cNvSpPr/>
          <p:nvPr/>
        </p:nvSpPr>
        <p:spPr>
          <a:xfrm>
            <a:off x="765156" y="332442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Store car IDs, models, rates, and availability for the full fleet</a:t>
            </a:r>
            <a:endParaRPr lang="en-US" sz="1000" dirty="0"/>
          </a:p>
        </p:txBody>
      </p:sp>
      <p:pic>
        <p:nvPicPr>
          <p:cNvPr id="10" name="Image 1" descr="preencoded.png">    </p:cNvPr>
          <p:cNvPicPr>
            <a:picLocks noChangeAspect="1"/>
          </p:cNvPicPr>
          <p:nvPr/>
        </p:nvPicPr>
        <p:blipFill>
          <a:blip r:embed="rId2"/>
          <a:stretch>
            <a:fillRect/>
          </a:stretch>
        </p:blipFill>
        <p:spPr>
          <a:xfrm>
            <a:off x="631908" y="3654127"/>
            <a:ext cx="6426635" cy="533102"/>
          </a:xfrm>
          <a:prstGeom prst="rect">
            <a:avLst/>
          </a:prstGeom>
        </p:spPr>
      </p:pic>
      <p:sp>
        <p:nvSpPr>
          <p:cNvPr id="11" name="Text 7"/>
          <p:cNvSpPr/>
          <p:nvPr/>
        </p:nvSpPr>
        <p:spPr>
          <a:xfrm>
            <a:off x="765156" y="429964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Methods</a:t>
            </a:r>
            <a:endParaRPr lang="en-US" sz="1350" dirty="0"/>
          </a:p>
        </p:txBody>
      </p:sp>
      <p:sp>
        <p:nvSpPr>
          <p:cNvPr id="12" name="Text 8"/>
          <p:cNvSpPr/>
          <p:nvPr/>
        </p:nvSpPr>
        <p:spPr>
          <a:xfrm>
            <a:off x="765156" y="463133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Separate functions for display, rent, return, and cost calculation</a:t>
            </a:r>
            <a:endParaRPr lang="en-US" sz="1000" dirty="0"/>
          </a:p>
        </p:txBody>
      </p:sp>
      <p:pic>
        <p:nvPicPr>
          <p:cNvPr id="13" name="Image 2" descr="preencoded.png">    </p:cNvPr>
          <p:cNvPicPr>
            <a:picLocks noChangeAspect="1"/>
          </p:cNvPicPr>
          <p:nvPr/>
        </p:nvPicPr>
        <p:blipFill>
          <a:blip r:embed="rId3"/>
          <a:stretch>
            <a:fillRect/>
          </a:stretch>
        </p:blipFill>
        <p:spPr>
          <a:xfrm>
            <a:off x="631908" y="4961037"/>
            <a:ext cx="6426635" cy="533102"/>
          </a:xfrm>
          <a:prstGeom prst="rect">
            <a:avLst/>
          </a:prstGeom>
        </p:spPr>
      </p:pic>
      <p:sp>
        <p:nvSpPr>
          <p:cNvPr id="14" name="Text 9"/>
          <p:cNvSpPr/>
          <p:nvPr/>
        </p:nvSpPr>
        <p:spPr>
          <a:xfrm>
            <a:off x="765156" y="5606554"/>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Modular Design</a:t>
            </a:r>
            <a:endParaRPr lang="en-US" sz="1350" dirty="0"/>
          </a:p>
        </p:txBody>
      </p:sp>
      <p:sp>
        <p:nvSpPr>
          <p:cNvPr id="15" name="Text 10"/>
          <p:cNvSpPr/>
          <p:nvPr/>
        </p:nvSpPr>
        <p:spPr>
          <a:xfrm>
            <a:off x="765156" y="5938242"/>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main() acts as coordinator; each method handles one responsibility</a:t>
            </a:r>
            <a:endParaRPr lang="en-US" sz="1000" dirty="0"/>
          </a:p>
        </p:txBody>
      </p:sp>
      <p:sp>
        <p:nvSpPr>
          <p:cNvPr id="16" name="Shape 11"/>
          <p:cNvSpPr/>
          <p:nvPr/>
        </p:nvSpPr>
        <p:spPr>
          <a:xfrm>
            <a:off x="7294082" y="1530152"/>
            <a:ext cx="4368095" cy="4864298"/>
          </a:xfrm>
          <a:prstGeom prst="roundRect">
            <a:avLst>
              <a:gd name="adj" fmla="val 2197"/>
            </a:avLst>
          </a:prstGeom>
          <a:solidFill>
            <a:srgbClr val="C7A2AC"/>
          </a:solidFill>
          <a:ln/>
        </p:spPr>
      </p:sp>
      <p:sp>
        <p:nvSpPr>
          <p:cNvPr id="17" name="Text 12"/>
          <p:cNvSpPr/>
          <p:nvPr/>
        </p:nvSpPr>
        <p:spPr>
          <a:xfrm>
            <a:off x="7427330" y="1648081"/>
            <a:ext cx="4101601" cy="219273"/>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Sora SemiBold" pitchFamily="34" charset="0"/>
                <a:ea typeface="Sora SemiBold" pitchFamily="34" charset="-122"/>
                <a:cs typeface="Sora SemiBold" pitchFamily="34" charset="-120"/>
              </a:rPr>
              <a:t>CO3 Topics Covered</a:t>
            </a:r>
            <a:endParaRPr lang="en-US" sz="1350" dirty="0"/>
          </a:p>
        </p:txBody>
      </p:sp>
      <p:sp>
        <p:nvSpPr>
          <p:cNvPr id="18" name="Text 13"/>
          <p:cNvSpPr/>
          <p:nvPr/>
        </p:nvSpPr>
        <p:spPr>
          <a:xfrm>
            <a:off x="7427330" y="1974255"/>
            <a:ext cx="4101601" cy="1610916"/>
          </a:xfrm>
          <a:prstGeom prst="rect">
            <a:avLst/>
          </a:prstGeom>
          <a:noFill/>
          <a:ln/>
        </p:spPr>
        <p:txBody>
          <a:bodyPr wrap="square" lIns="0" tIns="0" rIns="0" bIns="0" rtlCol="0" anchor="t">
            <a:normAutofit/>
          </a:bodyPr>
          <a:lstStyle/>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1-D Arrays — fleet data storage</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Array indexing &amp; traversal</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Method declaration &amp; definition</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Method parameters &amp; return types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void vs. value-returning methods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Calling methods from main()</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Modular program structure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442445"/>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CO3: Methods &amp; Arrays – Concepts &amp; Implementation</a:t>
            </a:r>
            <a:endParaRPr lang="en-US" sz="1600" dirty="0"/>
          </a:p>
        </p:txBody>
      </p:sp>
      <p:sp>
        <p:nvSpPr>
          <p:cNvPr id="3" name="Text 1"/>
          <p:cNvSpPr/>
          <p:nvPr/>
        </p:nvSpPr>
        <p:spPr>
          <a:xfrm>
            <a:off x="631908" y="795302"/>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4" name="Shape 2"/>
          <p:cNvSpPr/>
          <p:nvPr/>
        </p:nvSpPr>
        <p:spPr>
          <a:xfrm>
            <a:off x="631908" y="1009055"/>
            <a:ext cx="39488" cy="39489"/>
          </a:xfrm>
          <a:prstGeom prst="ellipse">
            <a:avLst/>
          </a:prstGeom>
          <a:solidFill>
            <a:srgbClr val="DA1B2E"/>
          </a:solidFill>
          <a:ln/>
        </p:spPr>
      </p:sp>
      <p:sp>
        <p:nvSpPr>
          <p:cNvPr id="5" name="Text 3"/>
          <p:cNvSpPr/>
          <p:nvPr/>
        </p:nvSpPr>
        <p:spPr>
          <a:xfrm>
            <a:off x="710885" y="96718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Arrays for Fleet Storage</a:t>
            </a:r>
            <a:endParaRPr lang="en-US" sz="800" dirty="0"/>
          </a:p>
        </p:txBody>
      </p:sp>
      <p:sp>
        <p:nvSpPr>
          <p:cNvPr id="6" name="Text 4"/>
          <p:cNvSpPr/>
          <p:nvPr/>
        </p:nvSpPr>
        <p:spPr>
          <a:xfrm>
            <a:off x="710885" y="113665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Parallel arrays store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carIds[]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carModels[]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dailyRates[]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and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isAvailable[]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for 3 cars</a:t>
            </a:r>
            <a:endParaRPr lang="en-US" sz="600" dirty="0"/>
          </a:p>
        </p:txBody>
      </p:sp>
      <p:sp>
        <p:nvSpPr>
          <p:cNvPr id="7" name="Shape 5"/>
          <p:cNvSpPr/>
          <p:nvPr/>
        </p:nvSpPr>
        <p:spPr>
          <a:xfrm>
            <a:off x="631908" y="1352252"/>
            <a:ext cx="39488" cy="39489"/>
          </a:xfrm>
          <a:prstGeom prst="ellipse">
            <a:avLst/>
          </a:prstGeom>
          <a:solidFill>
            <a:srgbClr val="DA1B2E"/>
          </a:solidFill>
          <a:ln/>
        </p:spPr>
      </p:sp>
      <p:sp>
        <p:nvSpPr>
          <p:cNvPr id="8" name="Text 6"/>
          <p:cNvSpPr/>
          <p:nvPr/>
        </p:nvSpPr>
        <p:spPr>
          <a:xfrm>
            <a:off x="710885" y="131038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displayFleet() Method</a:t>
            </a:r>
            <a:endParaRPr lang="en-US" sz="800" dirty="0"/>
          </a:p>
        </p:txBody>
      </p:sp>
      <p:sp>
        <p:nvSpPr>
          <p:cNvPr id="9" name="Text 7"/>
          <p:cNvSpPr/>
          <p:nvPr/>
        </p:nvSpPr>
        <p:spPr>
          <a:xfrm>
            <a:off x="710885" y="1479848"/>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void method — iterates arrays with a for loop and prints each car's details to console</a:t>
            </a:r>
            <a:endParaRPr lang="en-US" sz="600" dirty="0"/>
          </a:p>
        </p:txBody>
      </p:sp>
      <p:sp>
        <p:nvSpPr>
          <p:cNvPr id="10" name="Shape 8"/>
          <p:cNvSpPr/>
          <p:nvPr/>
        </p:nvSpPr>
        <p:spPr>
          <a:xfrm>
            <a:off x="631908" y="1695450"/>
            <a:ext cx="39488" cy="39489"/>
          </a:xfrm>
          <a:prstGeom prst="ellipse">
            <a:avLst/>
          </a:prstGeom>
          <a:solidFill>
            <a:srgbClr val="DA1B2E"/>
          </a:solidFill>
          <a:ln/>
        </p:spPr>
      </p:sp>
      <p:sp>
        <p:nvSpPr>
          <p:cNvPr id="11" name="Text 9"/>
          <p:cNvSpPr/>
          <p:nvPr/>
        </p:nvSpPr>
        <p:spPr>
          <a:xfrm>
            <a:off x="710885" y="1653580"/>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calculateCost() Method</a:t>
            </a:r>
            <a:endParaRPr lang="en-US" sz="800" dirty="0"/>
          </a:p>
        </p:txBody>
      </p:sp>
      <p:sp>
        <p:nvSpPr>
          <p:cNvPr id="12" name="Text 10"/>
          <p:cNvSpPr/>
          <p:nvPr/>
        </p:nvSpPr>
        <p:spPr>
          <a:xfrm>
            <a:off x="710885" y="182304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Returns a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double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 accepts daily rate and days as parameters, applies GST, returns final cost</a:t>
            </a:r>
            <a:endParaRPr lang="en-US" sz="600" dirty="0"/>
          </a:p>
        </p:txBody>
      </p:sp>
      <p:sp>
        <p:nvSpPr>
          <p:cNvPr id="13" name="Shape 11"/>
          <p:cNvSpPr/>
          <p:nvPr/>
        </p:nvSpPr>
        <p:spPr>
          <a:xfrm>
            <a:off x="631908" y="2038648"/>
            <a:ext cx="39488" cy="39489"/>
          </a:xfrm>
          <a:prstGeom prst="ellipse">
            <a:avLst/>
          </a:prstGeom>
          <a:solidFill>
            <a:srgbClr val="DA1B2E"/>
          </a:solidFill>
          <a:ln/>
        </p:spPr>
      </p:sp>
      <p:sp>
        <p:nvSpPr>
          <p:cNvPr id="14" name="Text 12"/>
          <p:cNvSpPr/>
          <p:nvPr/>
        </p:nvSpPr>
        <p:spPr>
          <a:xfrm>
            <a:off x="710885" y="199677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rentCar() Method</a:t>
            </a:r>
            <a:endParaRPr lang="en-US" sz="800" dirty="0"/>
          </a:p>
        </p:txBody>
      </p:sp>
      <p:sp>
        <p:nvSpPr>
          <p:cNvPr id="15" name="Text 13"/>
          <p:cNvSpPr/>
          <p:nvPr/>
        </p:nvSpPr>
        <p:spPr>
          <a:xfrm>
            <a:off x="710885" y="216624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Accepts index and availability array; sets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isAvailable[index] = false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to mark car as rented</a:t>
            </a:r>
            <a:endParaRPr lang="en-US" sz="600" dirty="0"/>
          </a:p>
        </p:txBody>
      </p:sp>
      <p:sp>
        <p:nvSpPr>
          <p:cNvPr id="16" name="Shape 14"/>
          <p:cNvSpPr/>
          <p:nvPr/>
        </p:nvSpPr>
        <p:spPr>
          <a:xfrm>
            <a:off x="631908" y="2305348"/>
            <a:ext cx="4033042" cy="300038"/>
          </a:xfrm>
          <a:prstGeom prst="roundRect">
            <a:avLst>
              <a:gd name="adj" fmla="val 11057"/>
            </a:avLst>
          </a:prstGeom>
          <a:solidFill>
            <a:srgbClr val="F9D2D6"/>
          </a:solidFill>
          <a:ln/>
        </p:spPr>
      </p:sp>
      <p:pic>
        <p:nvPicPr>
          <p:cNvPr id="17" name="Image 0" descr="preencoded.png">    </p:cNvPr>
          <p:cNvPicPr>
            <a:picLocks noChangeAspect="1"/>
          </p:cNvPicPr>
          <p:nvPr/>
        </p:nvPicPr>
        <p:blipFill>
          <a:blip r:embed="rId1"/>
          <a:stretch>
            <a:fillRect/>
          </a:stretch>
        </p:blipFill>
        <p:spPr>
          <a:xfrm>
            <a:off x="710885" y="2365276"/>
            <a:ext cx="98720" cy="78978"/>
          </a:xfrm>
          <a:prstGeom prst="rect">
            <a:avLst/>
          </a:prstGeom>
        </p:spPr>
      </p:pic>
      <p:sp>
        <p:nvSpPr>
          <p:cNvPr id="18" name="Text 15"/>
          <p:cNvSpPr/>
          <p:nvPr/>
        </p:nvSpPr>
        <p:spPr>
          <a:xfrm>
            <a:off x="888581" y="2362315"/>
            <a:ext cx="3697393" cy="189508"/>
          </a:xfrm>
          <a:prstGeom prst="rect">
            <a:avLst/>
          </a:prstGeom>
          <a:noFill/>
          <a:ln/>
        </p:spPr>
        <p:txBody>
          <a:bodyPr wrap="square" lIns="0" tIns="0" rIns="0" bIns="0" rtlCol="0" anchor="t">
            <a:normAutofit/>
          </a:bodyPr>
          <a:lstStyle/>
          <a:p>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Using parallel arrays keeps CO3 within syllabus scope while demonstrating structured data management effectively.</a:t>
            </a:r>
            <a:endParaRPr lang="en-US" sz="600" dirty="0"/>
          </a:p>
        </p:txBody>
      </p:sp>
      <p:sp>
        <p:nvSpPr>
          <p:cNvPr id="19" name="Text 16"/>
          <p:cNvSpPr/>
          <p:nvPr/>
        </p:nvSpPr>
        <p:spPr>
          <a:xfrm>
            <a:off x="4863978" y="795302"/>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CO3: Methods &amp; Arrays</a:t>
            </a:r>
            <a:endParaRPr lang="en-US" sz="800" dirty="0"/>
          </a:p>
        </p:txBody>
      </p:sp>
      <p:sp>
        <p:nvSpPr>
          <p:cNvPr id="20" name="Shape 17"/>
          <p:cNvSpPr/>
          <p:nvPr/>
        </p:nvSpPr>
        <p:spPr>
          <a:xfrm>
            <a:off x="4863978" y="967184"/>
            <a:ext cx="6702059" cy="5968008"/>
          </a:xfrm>
          <a:prstGeom prst="roundRect">
            <a:avLst>
              <a:gd name="adj" fmla="val 556"/>
            </a:avLst>
          </a:prstGeom>
          <a:solidFill>
            <a:srgbClr val="F2F2F2"/>
          </a:solidFill>
          <a:ln/>
        </p:spPr>
      </p:sp>
      <p:sp>
        <p:nvSpPr>
          <p:cNvPr id="21" name="Text 18"/>
          <p:cNvSpPr/>
          <p:nvPr/>
        </p:nvSpPr>
        <p:spPr>
          <a:xfrm>
            <a:off x="4958730" y="1046163"/>
            <a:ext cx="6512556" cy="5810052"/>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public class CarRentalFleetManager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Arrays to store fleet data (3 cars)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int[]     carIds      = {101, 102, 103};</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String[]  carModels   = {"Toyota Fortuner",</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"Honda City",</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"Maruti Swift"};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double[]  dailyRates  = {2500.0, 1500.0, 800.0};</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boolean[] isAvailable = {true, true, false};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Method: Display all cars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void displayFleet()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 Fleet Status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for (int i = 0; i &lt; carIds.length; i++)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System.out.println("ID: " + carIds[i]</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 | Model: " + carModels[i]</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 | Rate: Rs." + dailyRates[i]</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 | Available: " + isAvailable[i]);</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Method: Calculate total cost with GST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double calculateCost(double rate, int days)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final double GST_RATE = 0.18;</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double total = rate * days;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return total + (total * GST_RATE);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Method: Rent a car by index</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void rentCar(int index)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if (isAvailable[index])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isAvailable[index] = false;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System.out.println(carModels[index]</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 rented successfully.");</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else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System.out.println("Car not available.");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displayFleet();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rentCar(0);</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double cost = calculateCost(dailyRates[0], 3);</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System.out.println("Total Cost: Rs. " + cost);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p:txBody>
      </p:sp>
      <p:sp>
        <p:nvSpPr>
          <p:cNvPr id="22" name="Text 19"/>
          <p:cNvSpPr/>
          <p:nvPr/>
        </p:nvSpPr>
        <p:spPr>
          <a:xfrm>
            <a:off x="4863978" y="6981988"/>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23" name="Shape 20"/>
          <p:cNvSpPr/>
          <p:nvPr/>
        </p:nvSpPr>
        <p:spPr>
          <a:xfrm>
            <a:off x="4863978" y="7153870"/>
            <a:ext cx="6702059" cy="915789"/>
          </a:xfrm>
          <a:prstGeom prst="roundRect">
            <a:avLst>
              <a:gd name="adj" fmla="val 3623"/>
            </a:avLst>
          </a:prstGeom>
          <a:solidFill>
            <a:srgbClr val="F2F2F2"/>
          </a:solidFill>
          <a:ln/>
        </p:spPr>
      </p:sp>
      <p:sp>
        <p:nvSpPr>
          <p:cNvPr id="24" name="Text 21"/>
          <p:cNvSpPr/>
          <p:nvPr/>
        </p:nvSpPr>
        <p:spPr>
          <a:xfrm>
            <a:off x="4958730" y="7232848"/>
            <a:ext cx="6512556" cy="757833"/>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 Fleet Status ===</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ID: 101 | Model: Toyota Fortuner | Rate: Rs.2500.0 | Available: true</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ID: 102 | Model: Honda City | Rate: Rs.1500.0 | Available: true</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ID: 103 | Model: Maruti Swift | Rate: Rs.800.0 | Available: false</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Toyota Fortuner rented successfully.</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Total Cost: Rs. 8850.0</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31908" y="463550"/>
            <a:ext cx="1324140" cy="202605"/>
          </a:xfrm>
          <a:prstGeom prst="roundRect">
            <a:avLst>
              <a:gd name="adj" fmla="val 22106"/>
            </a:avLst>
          </a:prstGeom>
          <a:solidFill>
            <a:srgbClr val="F9D2D6"/>
          </a:solidFill>
          <a:ln/>
        </p:spPr>
      </p:sp>
      <p:sp>
        <p:nvSpPr>
          <p:cNvPr id="3" name="Text 1"/>
          <p:cNvSpPr/>
          <p:nvPr/>
        </p:nvSpPr>
        <p:spPr>
          <a:xfrm>
            <a:off x="711877" y="507611"/>
            <a:ext cx="1773788" cy="122634"/>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Sora Light" pitchFamily="34" charset="0"/>
                <a:ea typeface="Sora Light" pitchFamily="34" charset="-122"/>
                <a:cs typeface="Sora Light" pitchFamily="34" charset="-120"/>
              </a:rPr>
              <a:t>COURSE OUTCOME 4</a:t>
            </a:r>
            <a:endParaRPr lang="en-US" sz="800" dirty="0"/>
          </a:p>
        </p:txBody>
      </p:sp>
      <p:sp>
        <p:nvSpPr>
          <p:cNvPr id="4" name="Text 2"/>
          <p:cNvSpPr/>
          <p:nvPr/>
        </p:nvSpPr>
        <p:spPr>
          <a:xfrm>
            <a:off x="631908" y="722131"/>
            <a:ext cx="10927878" cy="438348"/>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Sora SemiBold" pitchFamily="34" charset="0"/>
                <a:ea typeface="Sora SemiBold" pitchFamily="34" charset="-122"/>
                <a:cs typeface="Sora SemiBold" pitchFamily="34" charset="-120"/>
              </a:rPr>
              <a:t>CO4 – OOP &amp; Exception Handling</a:t>
            </a:r>
            <a:endParaRPr lang="en-US" sz="2750" dirty="0"/>
          </a:p>
        </p:txBody>
      </p:sp>
      <p:sp>
        <p:nvSpPr>
          <p:cNvPr id="5" name="Shape 3"/>
          <p:cNvSpPr/>
          <p:nvPr/>
        </p:nvSpPr>
        <p:spPr>
          <a:xfrm>
            <a:off x="631908" y="1351359"/>
            <a:ext cx="10927878" cy="19050"/>
          </a:xfrm>
          <a:prstGeom prst="roundRect">
            <a:avLst>
              <a:gd name="adj" fmla="val 49999"/>
            </a:avLst>
          </a:prstGeom>
          <a:solidFill>
            <a:srgbClr val="3B3535">
              <a:alpha val="50000"/>
            </a:srgbClr>
          </a:solidFill>
          <a:ln/>
        </p:spPr>
      </p:sp>
      <p:sp>
        <p:nvSpPr>
          <p:cNvPr id="6" name="Text 4"/>
          <p:cNvSpPr/>
          <p:nvPr/>
        </p:nvSpPr>
        <p:spPr>
          <a:xfrm>
            <a:off x="631908" y="1631355"/>
            <a:ext cx="6426635" cy="589359"/>
          </a:xfrm>
          <a:prstGeom prst="rect">
            <a:avLst/>
          </a:prstGeom>
          <a:noFill/>
          <a:ln/>
        </p:spPr>
        <p:txBody>
          <a:bodyPr wrap="square" lIns="0" tIns="0" rIns="0" bIns="0" rtlCol="0" anchor="t">
            <a:normAutofit/>
          </a:bodyPr>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CO4 evolves the Car Rental Fleet Manager into a robust object-oriented application. Classes and objects model cars and rentals, while exception handling keeps invalid input and unavailable vehicles from crashing the system.</a:t>
            </a:r>
            <a:endParaRPr lang="en-US" sz="1000" dirty="0"/>
          </a:p>
        </p:txBody>
      </p:sp>
      <p:pic>
        <p:nvPicPr>
          <p:cNvPr id="7" name="Image 0" descr="preencoded.png">    </p:cNvPr>
          <p:cNvPicPr>
            <a:picLocks noChangeAspect="1"/>
          </p:cNvPicPr>
          <p:nvPr/>
        </p:nvPicPr>
        <p:blipFill>
          <a:blip r:embed="rId1"/>
          <a:stretch>
            <a:fillRect/>
          </a:stretch>
        </p:blipFill>
        <p:spPr>
          <a:xfrm>
            <a:off x="631908" y="2347218"/>
            <a:ext cx="6426635" cy="533102"/>
          </a:xfrm>
          <a:prstGeom prst="rect">
            <a:avLst/>
          </a:prstGeom>
        </p:spPr>
      </p:pic>
      <p:sp>
        <p:nvSpPr>
          <p:cNvPr id="8" name="Text 5"/>
          <p:cNvSpPr/>
          <p:nvPr/>
        </p:nvSpPr>
        <p:spPr>
          <a:xfrm>
            <a:off x="765156" y="299273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Encapsulation</a:t>
            </a:r>
            <a:endParaRPr lang="en-US" sz="1350" dirty="0"/>
          </a:p>
        </p:txBody>
      </p:sp>
      <p:sp>
        <p:nvSpPr>
          <p:cNvPr id="9" name="Text 6"/>
          <p:cNvSpPr/>
          <p:nvPr/>
        </p:nvSpPr>
        <p:spPr>
          <a:xfrm>
            <a:off x="765156" y="332442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Keep car data and rental behavior together inside focused classes</a:t>
            </a:r>
            <a:endParaRPr lang="en-US" sz="1000" dirty="0"/>
          </a:p>
        </p:txBody>
      </p:sp>
      <p:pic>
        <p:nvPicPr>
          <p:cNvPr id="10" name="Image 1" descr="preencoded.png">    </p:cNvPr>
          <p:cNvPicPr>
            <a:picLocks noChangeAspect="1"/>
          </p:cNvPicPr>
          <p:nvPr/>
        </p:nvPicPr>
        <p:blipFill>
          <a:blip r:embed="rId2"/>
          <a:stretch>
            <a:fillRect/>
          </a:stretch>
        </p:blipFill>
        <p:spPr>
          <a:xfrm>
            <a:off x="631908" y="3654127"/>
            <a:ext cx="6426635" cy="533102"/>
          </a:xfrm>
          <a:prstGeom prst="rect">
            <a:avLst/>
          </a:prstGeom>
        </p:spPr>
      </p:pic>
      <p:sp>
        <p:nvSpPr>
          <p:cNvPr id="11" name="Text 7"/>
          <p:cNvSpPr/>
          <p:nvPr/>
        </p:nvSpPr>
        <p:spPr>
          <a:xfrm>
            <a:off x="765156" y="429964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Objects</a:t>
            </a:r>
            <a:endParaRPr lang="en-US" sz="1350" dirty="0"/>
          </a:p>
        </p:txBody>
      </p:sp>
      <p:sp>
        <p:nvSpPr>
          <p:cNvPr id="12" name="Text 8"/>
          <p:cNvSpPr/>
          <p:nvPr/>
        </p:nvSpPr>
        <p:spPr>
          <a:xfrm>
            <a:off x="765156" y="463133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Create reusable Car and Rental objects for each real-world entity</a:t>
            </a:r>
            <a:endParaRPr lang="en-US" sz="1000" dirty="0"/>
          </a:p>
        </p:txBody>
      </p:sp>
      <p:pic>
        <p:nvPicPr>
          <p:cNvPr id="13" name="Image 2" descr="preencoded.png">    </p:cNvPr>
          <p:cNvPicPr>
            <a:picLocks noChangeAspect="1"/>
          </p:cNvPicPr>
          <p:nvPr/>
        </p:nvPicPr>
        <p:blipFill>
          <a:blip r:embed="rId3"/>
          <a:stretch>
            <a:fillRect/>
          </a:stretch>
        </p:blipFill>
        <p:spPr>
          <a:xfrm>
            <a:off x="631908" y="4961037"/>
            <a:ext cx="6426635" cy="533102"/>
          </a:xfrm>
          <a:prstGeom prst="rect">
            <a:avLst/>
          </a:prstGeom>
        </p:spPr>
      </p:pic>
      <p:sp>
        <p:nvSpPr>
          <p:cNvPr id="14" name="Text 9"/>
          <p:cNvSpPr/>
          <p:nvPr/>
        </p:nvSpPr>
        <p:spPr>
          <a:xfrm>
            <a:off x="765156" y="5606554"/>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Exceptions</a:t>
            </a:r>
            <a:endParaRPr lang="en-US" sz="1350" dirty="0"/>
          </a:p>
        </p:txBody>
      </p:sp>
      <p:sp>
        <p:nvSpPr>
          <p:cNvPr id="15" name="Text 10"/>
          <p:cNvSpPr/>
          <p:nvPr/>
        </p:nvSpPr>
        <p:spPr>
          <a:xfrm>
            <a:off x="765156" y="5938242"/>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Handle invalid IDs, bad input, and unavailable cars with clear messages</a:t>
            </a:r>
            <a:endParaRPr lang="en-US" sz="1000" dirty="0"/>
          </a:p>
        </p:txBody>
      </p:sp>
      <p:sp>
        <p:nvSpPr>
          <p:cNvPr id="16" name="Shape 11"/>
          <p:cNvSpPr/>
          <p:nvPr/>
        </p:nvSpPr>
        <p:spPr>
          <a:xfrm>
            <a:off x="7294082" y="1530152"/>
            <a:ext cx="4368095" cy="4864298"/>
          </a:xfrm>
          <a:prstGeom prst="roundRect">
            <a:avLst>
              <a:gd name="adj" fmla="val 2197"/>
            </a:avLst>
          </a:prstGeom>
          <a:solidFill>
            <a:srgbClr val="C7A2AC"/>
          </a:solidFill>
          <a:ln/>
        </p:spPr>
      </p:sp>
      <p:sp>
        <p:nvSpPr>
          <p:cNvPr id="17" name="Text 12"/>
          <p:cNvSpPr/>
          <p:nvPr/>
        </p:nvSpPr>
        <p:spPr>
          <a:xfrm>
            <a:off x="7427330" y="1648081"/>
            <a:ext cx="4101601" cy="219273"/>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Sora SemiBold" pitchFamily="34" charset="0"/>
                <a:ea typeface="Sora SemiBold" pitchFamily="34" charset="-122"/>
                <a:cs typeface="Sora SemiBold" pitchFamily="34" charset="-120"/>
              </a:rPr>
              <a:t>CO4 Topics Covered</a:t>
            </a:r>
            <a:endParaRPr lang="en-US" sz="1350" dirty="0"/>
          </a:p>
        </p:txBody>
      </p:sp>
      <p:sp>
        <p:nvSpPr>
          <p:cNvPr id="18" name="Text 13"/>
          <p:cNvSpPr/>
          <p:nvPr/>
        </p:nvSpPr>
        <p:spPr>
          <a:xfrm>
            <a:off x="7427330" y="1974255"/>
            <a:ext cx="4101601" cy="1610916"/>
          </a:xfrm>
          <a:prstGeom prst="rect">
            <a:avLst/>
          </a:prstGeom>
          <a:noFill/>
          <a:ln/>
        </p:spPr>
        <p:txBody>
          <a:bodyPr wrap="square" lIns="0" tIns="0" rIns="0" bIns="0" rtlCol="0" anchor="t">
            <a:normAutofit/>
          </a:bodyPr>
          <a:lstStyle/>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Classes &amp; objects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Constructors &amp; instance fields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Methods and encapsulation</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Access modifiers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try-catch-finally</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Custom exception messages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Input validation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31908" y="442445"/>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CO4: OOP &amp; Exception Handling – Concepts &amp; Implementation</a:t>
            </a:r>
            <a:endParaRPr lang="en-US" sz="1600" dirty="0"/>
          </a:p>
        </p:txBody>
      </p:sp>
      <p:sp>
        <p:nvSpPr>
          <p:cNvPr id="3" name="Text 1"/>
          <p:cNvSpPr/>
          <p:nvPr/>
        </p:nvSpPr>
        <p:spPr>
          <a:xfrm>
            <a:off x="631908" y="795302"/>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4" name="Shape 2"/>
          <p:cNvSpPr/>
          <p:nvPr/>
        </p:nvSpPr>
        <p:spPr>
          <a:xfrm>
            <a:off x="631908" y="1009055"/>
            <a:ext cx="39488" cy="39489"/>
          </a:xfrm>
          <a:prstGeom prst="ellipse">
            <a:avLst/>
          </a:prstGeom>
          <a:solidFill>
            <a:srgbClr val="DA1B2E"/>
          </a:solidFill>
          <a:ln/>
        </p:spPr>
      </p:sp>
      <p:sp>
        <p:nvSpPr>
          <p:cNvPr id="5" name="Text 3"/>
          <p:cNvSpPr/>
          <p:nvPr/>
        </p:nvSpPr>
        <p:spPr>
          <a:xfrm>
            <a:off x="710885" y="96718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Classes &amp; Objects</a:t>
            </a:r>
            <a:endParaRPr lang="en-US" sz="800" dirty="0"/>
          </a:p>
        </p:txBody>
      </p:sp>
      <p:sp>
        <p:nvSpPr>
          <p:cNvPr id="6" name="Text 4"/>
          <p:cNvSpPr/>
          <p:nvPr/>
        </p:nvSpPr>
        <p:spPr>
          <a:xfrm>
            <a:off x="710885" y="113665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Classes define reusable blueprints; each fleet vehicle becomes a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Car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object</a:t>
            </a:r>
            <a:endParaRPr lang="en-US" sz="600" dirty="0"/>
          </a:p>
        </p:txBody>
      </p:sp>
      <p:sp>
        <p:nvSpPr>
          <p:cNvPr id="7" name="Shape 5"/>
          <p:cNvSpPr/>
          <p:nvPr/>
        </p:nvSpPr>
        <p:spPr>
          <a:xfrm>
            <a:off x="631908" y="1352252"/>
            <a:ext cx="39488" cy="39489"/>
          </a:xfrm>
          <a:prstGeom prst="ellipse">
            <a:avLst/>
          </a:prstGeom>
          <a:solidFill>
            <a:srgbClr val="DA1B2E"/>
          </a:solidFill>
          <a:ln/>
        </p:spPr>
      </p:sp>
      <p:sp>
        <p:nvSpPr>
          <p:cNvPr id="8" name="Text 6"/>
          <p:cNvSpPr/>
          <p:nvPr/>
        </p:nvSpPr>
        <p:spPr>
          <a:xfrm>
            <a:off x="710885" y="131038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Constructors &amp; this</a:t>
            </a:r>
            <a:endParaRPr lang="en-US" sz="800" dirty="0"/>
          </a:p>
        </p:txBody>
      </p:sp>
      <p:sp>
        <p:nvSpPr>
          <p:cNvPr id="9" name="Text 7"/>
          <p:cNvSpPr/>
          <p:nvPr/>
        </p:nvSpPr>
        <p:spPr>
          <a:xfrm>
            <a:off x="710885" y="1479848"/>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The constructor initializes fields with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this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while encapsulation protects private state</a:t>
            </a:r>
            <a:endParaRPr lang="en-US" sz="600" dirty="0"/>
          </a:p>
        </p:txBody>
      </p:sp>
      <p:sp>
        <p:nvSpPr>
          <p:cNvPr id="10" name="Shape 8"/>
          <p:cNvSpPr/>
          <p:nvPr/>
        </p:nvSpPr>
        <p:spPr>
          <a:xfrm>
            <a:off x="631908" y="1695450"/>
            <a:ext cx="39488" cy="39489"/>
          </a:xfrm>
          <a:prstGeom prst="ellipse">
            <a:avLst/>
          </a:prstGeom>
          <a:solidFill>
            <a:srgbClr val="DA1B2E"/>
          </a:solidFill>
          <a:ln/>
        </p:spPr>
      </p:sp>
      <p:sp>
        <p:nvSpPr>
          <p:cNvPr id="11" name="Text 9"/>
          <p:cNvSpPr/>
          <p:nvPr/>
        </p:nvSpPr>
        <p:spPr>
          <a:xfrm>
            <a:off x="710885" y="1653580"/>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Inheritance &amp; Interfaces</a:t>
            </a:r>
            <a:endParaRPr lang="en-US" sz="800" dirty="0"/>
          </a:p>
        </p:txBody>
      </p:sp>
      <p:sp>
        <p:nvSpPr>
          <p:cNvPr id="12" name="Text 10"/>
          <p:cNvSpPr/>
          <p:nvPr/>
        </p:nvSpPr>
        <p:spPr>
          <a:xfrm>
            <a:off x="710885" y="182304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Static members track shared fleet data; subclasses inherit behavior and implement interfaces</a:t>
            </a:r>
            <a:endParaRPr lang="en-US" sz="600" dirty="0"/>
          </a:p>
        </p:txBody>
      </p:sp>
      <p:sp>
        <p:nvSpPr>
          <p:cNvPr id="13" name="Shape 11"/>
          <p:cNvSpPr/>
          <p:nvPr/>
        </p:nvSpPr>
        <p:spPr>
          <a:xfrm>
            <a:off x="631908" y="2038648"/>
            <a:ext cx="39488" cy="39489"/>
          </a:xfrm>
          <a:prstGeom prst="ellipse">
            <a:avLst/>
          </a:prstGeom>
          <a:solidFill>
            <a:srgbClr val="DA1B2E"/>
          </a:solidFill>
          <a:ln/>
        </p:spPr>
      </p:sp>
      <p:sp>
        <p:nvSpPr>
          <p:cNvPr id="14" name="Text 12"/>
          <p:cNvSpPr/>
          <p:nvPr/>
        </p:nvSpPr>
        <p:spPr>
          <a:xfrm>
            <a:off x="710885" y="199677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Overriding &amp; Exceptions</a:t>
            </a:r>
            <a:endParaRPr lang="en-US" sz="800" dirty="0"/>
          </a:p>
        </p:txBody>
      </p:sp>
      <p:sp>
        <p:nvSpPr>
          <p:cNvPr id="15" name="Text 13"/>
          <p:cNvSpPr/>
          <p:nvPr/>
        </p:nvSpPr>
        <p:spPr>
          <a:xfrm>
            <a:off x="710885" y="216624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Overridden methods specialize behavior;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try-catch-finally</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throw</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and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throws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handle failures</a:t>
            </a:r>
            <a:endParaRPr lang="en-US" sz="600" dirty="0"/>
          </a:p>
        </p:txBody>
      </p:sp>
      <p:sp>
        <p:nvSpPr>
          <p:cNvPr id="16" name="Shape 14"/>
          <p:cNvSpPr/>
          <p:nvPr/>
        </p:nvSpPr>
        <p:spPr>
          <a:xfrm>
            <a:off x="631908" y="2305348"/>
            <a:ext cx="4033042" cy="300038"/>
          </a:xfrm>
          <a:prstGeom prst="roundRect">
            <a:avLst>
              <a:gd name="adj" fmla="val 11057"/>
            </a:avLst>
          </a:prstGeom>
          <a:solidFill>
            <a:srgbClr val="F9D2D6"/>
          </a:solidFill>
          <a:ln/>
        </p:spPr>
      </p:sp>
      <p:pic>
        <p:nvPicPr>
          <p:cNvPr id="17" name="Image 0" descr="preencoded.png">    </p:cNvPr>
          <p:cNvPicPr>
            <a:picLocks noChangeAspect="1"/>
          </p:cNvPicPr>
          <p:nvPr/>
        </p:nvPicPr>
        <p:blipFill>
          <a:blip r:embed="rId1"/>
          <a:stretch>
            <a:fillRect/>
          </a:stretch>
        </p:blipFill>
        <p:spPr>
          <a:xfrm>
            <a:off x="710885" y="2365276"/>
            <a:ext cx="98720" cy="78978"/>
          </a:xfrm>
          <a:prstGeom prst="rect">
            <a:avLst/>
          </a:prstGeom>
        </p:spPr>
      </p:pic>
      <p:sp>
        <p:nvSpPr>
          <p:cNvPr id="18" name="Text 15"/>
          <p:cNvSpPr/>
          <p:nvPr/>
        </p:nvSpPr>
        <p:spPr>
          <a:xfrm>
            <a:off x="888581" y="2362315"/>
            <a:ext cx="3697393" cy="189508"/>
          </a:xfrm>
          <a:prstGeom prst="rect">
            <a:avLst/>
          </a:prstGeom>
          <a:noFill/>
          <a:ln/>
        </p:spPr>
        <p:txBody>
          <a:bodyPr wrap="square" lIns="0" tIns="0" rIns="0" bIns="0" rtlCol="0" anchor="t">
            <a:normAutofit/>
          </a:bodyPr>
          <a:lstStyle/>
          <a:p>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OOP maps the program to real-world entities while exceptions make the user experience safer.</a:t>
            </a:r>
            <a:endParaRPr lang="en-US" sz="600" dirty="0"/>
          </a:p>
        </p:txBody>
      </p:sp>
      <p:sp>
        <p:nvSpPr>
          <p:cNvPr id="19" name="Text 16"/>
          <p:cNvSpPr/>
          <p:nvPr/>
        </p:nvSpPr>
        <p:spPr>
          <a:xfrm>
            <a:off x="4863978" y="795302"/>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CO4: OOP &amp; Exceptions</a:t>
            </a:r>
            <a:endParaRPr lang="en-US" sz="800" dirty="0"/>
          </a:p>
        </p:txBody>
      </p:sp>
      <p:sp>
        <p:nvSpPr>
          <p:cNvPr id="20" name="Shape 17"/>
          <p:cNvSpPr/>
          <p:nvPr/>
        </p:nvSpPr>
        <p:spPr>
          <a:xfrm>
            <a:off x="4863978" y="967184"/>
            <a:ext cx="6702059" cy="5336480"/>
          </a:xfrm>
          <a:prstGeom prst="roundRect">
            <a:avLst>
              <a:gd name="adj" fmla="val 622"/>
            </a:avLst>
          </a:prstGeom>
          <a:solidFill>
            <a:srgbClr val="F2F2F2"/>
          </a:solidFill>
          <a:ln/>
        </p:spPr>
      </p:sp>
      <p:sp>
        <p:nvSpPr>
          <p:cNvPr id="21" name="Text 18"/>
          <p:cNvSpPr/>
          <p:nvPr/>
        </p:nvSpPr>
        <p:spPr>
          <a:xfrm>
            <a:off x="4958730" y="1046163"/>
            <a:ext cx="6512556" cy="5178524"/>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interface Rentable { void rent();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class Car implements Rentable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private String model;                 // encapsulation</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private boolean available;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int totalCars = 0;             // shared static member</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Car(String model) {                    // constructor</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this.model = model;                // this identifies the field</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this.available = true;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totalCars++;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public void rent() throws IllegalStateException { // throws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if (!available) throw new IllegalStateException("Car is not available"); // throw</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available = false;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System.out.println(model + " rented successfully.");</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 getModel() { return model;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class PremiumCar extends Car {             // inheritance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PremiumCar(String model) { super(model);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@Override public void rent() {         // method overriding</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System.out.println("Premium booking for " + getModel());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public class CarRentalFleetManager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Car car = new Car("Toyota Fortuner"); // object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try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car.rent();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car.rent();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catch (IllegalStateException e)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System.out.println("Rental error: " + e.getMessage());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finally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System.out.println("Rental attempt complete; cars=" + Car.totalCars);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p:txBody>
      </p:sp>
      <p:sp>
        <p:nvSpPr>
          <p:cNvPr id="22" name="Text 19"/>
          <p:cNvSpPr/>
          <p:nvPr/>
        </p:nvSpPr>
        <p:spPr>
          <a:xfrm>
            <a:off x="4863978" y="6350461"/>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23" name="Shape 20"/>
          <p:cNvSpPr/>
          <p:nvPr/>
        </p:nvSpPr>
        <p:spPr>
          <a:xfrm>
            <a:off x="4863978" y="6522343"/>
            <a:ext cx="6702059" cy="536873"/>
          </a:xfrm>
          <a:prstGeom prst="roundRect">
            <a:avLst>
              <a:gd name="adj" fmla="val 6179"/>
            </a:avLst>
          </a:prstGeom>
          <a:solidFill>
            <a:srgbClr val="F2F2F2"/>
          </a:solidFill>
          <a:ln/>
        </p:spPr>
      </p:sp>
      <p:sp>
        <p:nvSpPr>
          <p:cNvPr id="24" name="Text 21"/>
          <p:cNvSpPr/>
          <p:nvPr/>
        </p:nvSpPr>
        <p:spPr>
          <a:xfrm>
            <a:off x="4958730" y="6601321"/>
            <a:ext cx="6512556" cy="378916"/>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Toyota Fortuner rented successfully.</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Rental error: Car is not available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Rental attempt complete; cars=1</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31908" y="463550"/>
            <a:ext cx="1322652" cy="202605"/>
          </a:xfrm>
          <a:prstGeom prst="roundRect">
            <a:avLst>
              <a:gd name="adj" fmla="val 22106"/>
            </a:avLst>
          </a:prstGeom>
          <a:solidFill>
            <a:srgbClr val="F9D2D6"/>
          </a:solidFill>
          <a:ln/>
        </p:spPr>
      </p:sp>
      <p:sp>
        <p:nvSpPr>
          <p:cNvPr id="3" name="Text 1"/>
          <p:cNvSpPr/>
          <p:nvPr/>
        </p:nvSpPr>
        <p:spPr>
          <a:xfrm>
            <a:off x="711877" y="507611"/>
            <a:ext cx="1772300" cy="122634"/>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Sora Light" pitchFamily="34" charset="0"/>
                <a:ea typeface="Sora Light" pitchFamily="34" charset="-122"/>
                <a:cs typeface="Sora Light" pitchFamily="34" charset="-120"/>
              </a:rPr>
              <a:t>COURSE OUTCOME 5</a:t>
            </a:r>
            <a:endParaRPr lang="en-US" sz="800" dirty="0"/>
          </a:p>
        </p:txBody>
      </p:sp>
      <p:sp>
        <p:nvSpPr>
          <p:cNvPr id="4" name="Text 2"/>
          <p:cNvSpPr/>
          <p:nvPr/>
        </p:nvSpPr>
        <p:spPr>
          <a:xfrm>
            <a:off x="631908" y="722131"/>
            <a:ext cx="10927878" cy="438348"/>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Sora SemiBold" pitchFamily="34" charset="0"/>
                <a:ea typeface="Sora SemiBold" pitchFamily="34" charset="-122"/>
                <a:cs typeface="Sora SemiBold" pitchFamily="34" charset="-120"/>
              </a:rPr>
              <a:t>CO5 – Strings, Algorithms &amp; File I/O</a:t>
            </a:r>
            <a:endParaRPr lang="en-US" sz="2750" dirty="0"/>
          </a:p>
        </p:txBody>
      </p:sp>
      <p:sp>
        <p:nvSpPr>
          <p:cNvPr id="5" name="Shape 3"/>
          <p:cNvSpPr/>
          <p:nvPr/>
        </p:nvSpPr>
        <p:spPr>
          <a:xfrm>
            <a:off x="631908" y="1351359"/>
            <a:ext cx="10927878" cy="19050"/>
          </a:xfrm>
          <a:prstGeom prst="roundRect">
            <a:avLst>
              <a:gd name="adj" fmla="val 49999"/>
            </a:avLst>
          </a:prstGeom>
          <a:solidFill>
            <a:srgbClr val="3B3535">
              <a:alpha val="50000"/>
            </a:srgbClr>
          </a:solidFill>
          <a:ln/>
        </p:spPr>
      </p:sp>
      <p:sp>
        <p:nvSpPr>
          <p:cNvPr id="6" name="Text 4"/>
          <p:cNvSpPr/>
          <p:nvPr/>
        </p:nvSpPr>
        <p:spPr>
          <a:xfrm>
            <a:off x="631908" y="1631355"/>
            <a:ext cx="6426635" cy="589359"/>
          </a:xfrm>
          <a:prstGeom prst="rect">
            <a:avLst/>
          </a:prstGeom>
          <a:noFill/>
          <a:ln/>
        </p:spPr>
        <p:txBody>
          <a:bodyPr wrap="square" lIns="0" tIns="0" rIns="0" bIns="0" rtlCol="0" anchor="t">
            <a:normAutofit/>
          </a:bodyPr>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CO5 completes the Car Rental Fleet Manager with practical data processing. Strings make search and validation user-friendly, algorithms organize fleet information, and file I/O preserves rental records beyond a single run.</a:t>
            </a:r>
            <a:endParaRPr lang="en-US" sz="1000" dirty="0"/>
          </a:p>
        </p:txBody>
      </p:sp>
      <p:pic>
        <p:nvPicPr>
          <p:cNvPr id="7" name="Image 0" descr="preencoded.png">    </p:cNvPr>
          <p:cNvPicPr>
            <a:picLocks noChangeAspect="1"/>
          </p:cNvPicPr>
          <p:nvPr/>
        </p:nvPicPr>
        <p:blipFill>
          <a:blip r:embed="rId1"/>
          <a:stretch>
            <a:fillRect/>
          </a:stretch>
        </p:blipFill>
        <p:spPr>
          <a:xfrm>
            <a:off x="631908" y="2347218"/>
            <a:ext cx="6426635" cy="533102"/>
          </a:xfrm>
          <a:prstGeom prst="rect">
            <a:avLst/>
          </a:prstGeom>
        </p:spPr>
      </p:pic>
      <p:sp>
        <p:nvSpPr>
          <p:cNvPr id="8" name="Text 5"/>
          <p:cNvSpPr/>
          <p:nvPr/>
        </p:nvSpPr>
        <p:spPr>
          <a:xfrm>
            <a:off x="765156" y="299273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Strings</a:t>
            </a:r>
            <a:endParaRPr lang="en-US" sz="1350" dirty="0"/>
          </a:p>
        </p:txBody>
      </p:sp>
      <p:sp>
        <p:nvSpPr>
          <p:cNvPr id="9" name="Text 6"/>
          <p:cNvSpPr/>
          <p:nvPr/>
        </p:nvSpPr>
        <p:spPr>
          <a:xfrm>
            <a:off x="765156" y="332442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Search and compare car models with safe, readable text operations</a:t>
            </a:r>
            <a:endParaRPr lang="en-US" sz="1000" dirty="0"/>
          </a:p>
        </p:txBody>
      </p:sp>
      <p:pic>
        <p:nvPicPr>
          <p:cNvPr id="10" name="Image 1" descr="preencoded.png">    </p:cNvPr>
          <p:cNvPicPr>
            <a:picLocks noChangeAspect="1"/>
          </p:cNvPicPr>
          <p:nvPr/>
        </p:nvPicPr>
        <p:blipFill>
          <a:blip r:embed="rId2"/>
          <a:stretch>
            <a:fillRect/>
          </a:stretch>
        </p:blipFill>
        <p:spPr>
          <a:xfrm>
            <a:off x="631908" y="3654127"/>
            <a:ext cx="6426635" cy="533102"/>
          </a:xfrm>
          <a:prstGeom prst="rect">
            <a:avLst/>
          </a:prstGeom>
        </p:spPr>
      </p:pic>
      <p:sp>
        <p:nvSpPr>
          <p:cNvPr id="11" name="Text 7"/>
          <p:cNvSpPr/>
          <p:nvPr/>
        </p:nvSpPr>
        <p:spPr>
          <a:xfrm>
            <a:off x="765156" y="4299645"/>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Algorithms</a:t>
            </a:r>
            <a:endParaRPr lang="en-US" sz="1350" dirty="0"/>
          </a:p>
        </p:txBody>
      </p:sp>
      <p:sp>
        <p:nvSpPr>
          <p:cNvPr id="12" name="Text 8"/>
          <p:cNvSpPr/>
          <p:nvPr/>
        </p:nvSpPr>
        <p:spPr>
          <a:xfrm>
            <a:off x="765156" y="4631333"/>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Sort fleet rates or models to present useful results efficiently</a:t>
            </a:r>
            <a:endParaRPr lang="en-US" sz="1000" dirty="0"/>
          </a:p>
        </p:txBody>
      </p:sp>
      <p:pic>
        <p:nvPicPr>
          <p:cNvPr id="13" name="Image 2" descr="preencoded.png">    </p:cNvPr>
          <p:cNvPicPr>
            <a:picLocks noChangeAspect="1"/>
          </p:cNvPicPr>
          <p:nvPr/>
        </p:nvPicPr>
        <p:blipFill>
          <a:blip r:embed="rId3"/>
          <a:stretch>
            <a:fillRect/>
          </a:stretch>
        </p:blipFill>
        <p:spPr>
          <a:xfrm>
            <a:off x="631908" y="4961037"/>
            <a:ext cx="6426635" cy="533102"/>
          </a:xfrm>
          <a:prstGeom prst="rect">
            <a:avLst/>
          </a:prstGeom>
        </p:spPr>
      </p:pic>
      <p:sp>
        <p:nvSpPr>
          <p:cNvPr id="14" name="Text 9"/>
          <p:cNvSpPr/>
          <p:nvPr/>
        </p:nvSpPr>
        <p:spPr>
          <a:xfrm>
            <a:off x="765156" y="5606554"/>
            <a:ext cx="6160140" cy="219273"/>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Sora SemiBold" pitchFamily="34" charset="0"/>
                <a:ea typeface="Sora SemiBold" pitchFamily="34" charset="-122"/>
                <a:cs typeface="Sora SemiBold" pitchFamily="34" charset="-120"/>
              </a:rPr>
              <a:t>File I/O</a:t>
            </a:r>
            <a:endParaRPr lang="en-US" sz="1350" dirty="0"/>
          </a:p>
        </p:txBody>
      </p:sp>
      <p:sp>
        <p:nvSpPr>
          <p:cNvPr id="15" name="Text 10"/>
          <p:cNvSpPr/>
          <p:nvPr/>
        </p:nvSpPr>
        <p:spPr>
          <a:xfrm>
            <a:off x="765156" y="5938242"/>
            <a:ext cx="6160140" cy="196453"/>
          </a:xfrm>
          <a:prstGeom prst="rect">
            <a:avLst/>
          </a:prstGeom>
          <a:noFill/>
          <a:ln/>
        </p:spPr>
        <p:txBody>
          <a:bodyPr wrap="none" lIns="0" tIns="0" rIns="0" bIns="0" rtlCol="0" anchor="t"/>
          <a:lstStyle/>
          <a:p>
            <a:pPr algn="l" indent="0" marL="0">
              <a:lnSpc>
                <a:spcPct val="123000"/>
              </a:lnSpc>
              <a:buNone/>
            </a:pPr>
            <a:r>
              <a:rPr lang="en-US" sz="1000" dirty="0">
                <a:solidFill>
                  <a:srgbClr val="3B3535"/>
                </a:solidFill>
                <a:latin typeface="Sora Light" pitchFamily="34" charset="0"/>
                <a:ea typeface="Sora Light" pitchFamily="34" charset="-122"/>
                <a:cs typeface="Sora Light" pitchFamily="34" charset="-120"/>
              </a:rPr>
              <a:t>Write rental summaries to a file and read them back when needed</a:t>
            </a:r>
            <a:endParaRPr lang="en-US" sz="1000" dirty="0"/>
          </a:p>
        </p:txBody>
      </p:sp>
      <p:sp>
        <p:nvSpPr>
          <p:cNvPr id="16" name="Shape 11"/>
          <p:cNvSpPr/>
          <p:nvPr/>
        </p:nvSpPr>
        <p:spPr>
          <a:xfrm>
            <a:off x="7294082" y="1530152"/>
            <a:ext cx="4368095" cy="4864298"/>
          </a:xfrm>
          <a:prstGeom prst="roundRect">
            <a:avLst>
              <a:gd name="adj" fmla="val 2197"/>
            </a:avLst>
          </a:prstGeom>
          <a:solidFill>
            <a:srgbClr val="C7A2AC"/>
          </a:solidFill>
          <a:ln/>
        </p:spPr>
      </p:sp>
      <p:sp>
        <p:nvSpPr>
          <p:cNvPr id="17" name="Text 12"/>
          <p:cNvSpPr/>
          <p:nvPr/>
        </p:nvSpPr>
        <p:spPr>
          <a:xfrm>
            <a:off x="7427330" y="1648081"/>
            <a:ext cx="4101601" cy="219273"/>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Sora SemiBold" pitchFamily="34" charset="0"/>
                <a:ea typeface="Sora SemiBold" pitchFamily="34" charset="-122"/>
                <a:cs typeface="Sora SemiBold" pitchFamily="34" charset="-120"/>
              </a:rPr>
              <a:t>CO5 Topics Covered</a:t>
            </a:r>
            <a:endParaRPr lang="en-US" sz="1350" dirty="0"/>
          </a:p>
        </p:txBody>
      </p:sp>
      <p:sp>
        <p:nvSpPr>
          <p:cNvPr id="18" name="Text 13"/>
          <p:cNvSpPr/>
          <p:nvPr/>
        </p:nvSpPr>
        <p:spPr>
          <a:xfrm>
            <a:off x="7427330" y="1974255"/>
            <a:ext cx="4101601" cy="1642666"/>
          </a:xfrm>
          <a:prstGeom prst="rect">
            <a:avLst/>
          </a:prstGeom>
          <a:noFill/>
          <a:ln/>
        </p:spPr>
        <p:txBody>
          <a:bodyPr wrap="square" lIns="0" tIns="0" rIns="0" bIns="0" rtlCol="0" anchor="t">
            <a:normAutofit/>
          </a:bodyPr>
          <a:lstStyle/>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String methods,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StringBuilder</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&amp;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StringBuffer</a:t>
            </a:r>
            <a:endParaRPr lang="en-US" sz="1000" dirty="0"/>
          </a:p>
          <a:p>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equals()</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vs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split()</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and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join()</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Searching and sorting fleet records</a:t>
            </a:r>
            <a:endParaRPr lang="en-US" sz="1000" dirty="0"/>
          </a:p>
          <a:p>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Comparable</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and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Comparator</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File reading and writing with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Path</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and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Files</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Buffered I/O with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BufferedReader</a:t>
            </a:r>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 and </a:t>
            </a:r>
            <a:pPr algn="l" marL="203200" indent="-203200">
              <a:lnSpc>
                <a:spcPct val="123000"/>
              </a:lnSpc>
              <a:buSzPct val="100000"/>
              <a:buChar char="•"/>
            </a:pPr>
            <a:r>
              <a:rPr lang="en-US" sz="1000" dirty="0">
                <a:solidFill>
                  <a:srgbClr val="000000"/>
                </a:solidFill>
                <a:highlight>
                  <a:srgbClr val="BA959F"/>
                </a:highlight>
                <a:latin typeface="Consolas" pitchFamily="34" charset="0"/>
                <a:ea typeface="Consolas" pitchFamily="34" charset="-122"/>
                <a:cs typeface="Consolas" pitchFamily="34" charset="-120"/>
              </a:rPr>
              <a:t>BufferedWriter</a:t>
            </a:r>
            <a:endParaRPr lang="en-US" sz="1000" dirty="0"/>
          </a:p>
          <a:p>
            <a:pPr algn="l" marL="203200" indent="-203200">
              <a:lnSpc>
                <a:spcPct val="123000"/>
              </a:lnSpc>
              <a:buSzPct val="100000"/>
              <a:buChar char="•"/>
            </a:pPr>
            <a:r>
              <a:rPr lang="en-US" sz="1000" dirty="0">
                <a:solidFill>
                  <a:srgbClr val="000000"/>
                </a:solidFill>
                <a:latin typeface="Sora Light" pitchFamily="34" charset="0"/>
                <a:ea typeface="Sora Light" pitchFamily="34" charset="-122"/>
                <a:cs typeface="Sora Light" pitchFamily="34" charset="-120"/>
              </a:rPr>
              <a:t>Persistent rental records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31908" y="442445"/>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CO5: Strings, Algorithms &amp; File I/O – Concepts &amp; Implementation</a:t>
            </a:r>
            <a:endParaRPr lang="en-US" sz="1600" dirty="0"/>
          </a:p>
        </p:txBody>
      </p:sp>
      <p:sp>
        <p:nvSpPr>
          <p:cNvPr id="3" name="Text 1"/>
          <p:cNvSpPr/>
          <p:nvPr/>
        </p:nvSpPr>
        <p:spPr>
          <a:xfrm>
            <a:off x="631908" y="795302"/>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4" name="Shape 2"/>
          <p:cNvSpPr/>
          <p:nvPr/>
        </p:nvSpPr>
        <p:spPr>
          <a:xfrm>
            <a:off x="631908" y="1009055"/>
            <a:ext cx="39488" cy="39489"/>
          </a:xfrm>
          <a:prstGeom prst="ellipse">
            <a:avLst/>
          </a:prstGeom>
          <a:solidFill>
            <a:srgbClr val="DA1B2E"/>
          </a:solidFill>
          <a:ln/>
        </p:spPr>
      </p:sp>
      <p:sp>
        <p:nvSpPr>
          <p:cNvPr id="5" name="Text 3"/>
          <p:cNvSpPr/>
          <p:nvPr/>
        </p:nvSpPr>
        <p:spPr>
          <a:xfrm>
            <a:off x="710885" y="96718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String Methods</a:t>
            </a:r>
            <a:endParaRPr lang="en-US" sz="800" dirty="0"/>
          </a:p>
        </p:txBody>
      </p:sp>
      <p:sp>
        <p:nvSpPr>
          <p:cNvPr id="6" name="Text 4"/>
          <p:cNvSpPr/>
          <p:nvPr/>
        </p:nvSpPr>
        <p:spPr>
          <a:xfrm>
            <a:off x="710885" y="113665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Use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toLowerCase()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contains()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split()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and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String.join()</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for model search and validation</a:t>
            </a:r>
            <a:endParaRPr lang="en-US" sz="600" dirty="0"/>
          </a:p>
        </p:txBody>
      </p:sp>
      <p:sp>
        <p:nvSpPr>
          <p:cNvPr id="7" name="Shape 5"/>
          <p:cNvSpPr/>
          <p:nvPr/>
        </p:nvSpPr>
        <p:spPr>
          <a:xfrm>
            <a:off x="631908" y="1352252"/>
            <a:ext cx="39488" cy="39489"/>
          </a:xfrm>
          <a:prstGeom prst="ellipse">
            <a:avLst/>
          </a:prstGeom>
          <a:solidFill>
            <a:srgbClr val="DA1B2E"/>
          </a:solidFill>
          <a:ln/>
        </p:spPr>
      </p:sp>
      <p:sp>
        <p:nvSpPr>
          <p:cNvPr id="8" name="Text 6"/>
          <p:cNvSpPr/>
          <p:nvPr/>
        </p:nvSpPr>
        <p:spPr>
          <a:xfrm>
            <a:off x="710885" y="131038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Mutable Text</a:t>
            </a:r>
            <a:endParaRPr lang="en-US" sz="800" dirty="0"/>
          </a:p>
        </p:txBody>
      </p:sp>
      <p:sp>
        <p:nvSpPr>
          <p:cNvPr id="9" name="Text 7"/>
          <p:cNvSpPr/>
          <p:nvPr/>
        </p:nvSpPr>
        <p:spPr>
          <a:xfrm>
            <a:off x="710885" y="1479848"/>
            <a:ext cx="3954066" cy="189508"/>
          </a:xfrm>
          <a:prstGeom prst="rect">
            <a:avLst/>
          </a:prstGeom>
          <a:noFill/>
          <a:ln/>
        </p:spPr>
        <p:txBody>
          <a:bodyPr wrap="square" lIns="0" tIns="0" rIns="0" bIns="0" rtlCol="0" anchor="t">
            <a:normAutofit/>
          </a:bodyPr>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StringBuilder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and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StringBuffer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assemble rental summaries;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equals()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compares content while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compares references</a:t>
            </a:r>
            <a:endParaRPr lang="en-US" sz="600" dirty="0"/>
          </a:p>
        </p:txBody>
      </p:sp>
      <p:sp>
        <p:nvSpPr>
          <p:cNvPr id="10" name="Shape 8"/>
          <p:cNvSpPr/>
          <p:nvPr/>
        </p:nvSpPr>
        <p:spPr>
          <a:xfrm>
            <a:off x="631908" y="1790204"/>
            <a:ext cx="39488" cy="39489"/>
          </a:xfrm>
          <a:prstGeom prst="ellipse">
            <a:avLst/>
          </a:prstGeom>
          <a:solidFill>
            <a:srgbClr val="DA1B2E"/>
          </a:solidFill>
          <a:ln/>
        </p:spPr>
      </p:sp>
      <p:sp>
        <p:nvSpPr>
          <p:cNvPr id="11" name="Text 9"/>
          <p:cNvSpPr/>
          <p:nvPr/>
        </p:nvSpPr>
        <p:spPr>
          <a:xfrm>
            <a:off x="710885" y="174833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Search &amp; Sort</a:t>
            </a:r>
            <a:endParaRPr lang="en-US" sz="800" dirty="0"/>
          </a:p>
        </p:txBody>
      </p:sp>
      <p:sp>
        <p:nvSpPr>
          <p:cNvPr id="12" name="Text 10"/>
          <p:cNvSpPr/>
          <p:nvPr/>
        </p:nvSpPr>
        <p:spPr>
          <a:xfrm>
            <a:off x="710885" y="1917799"/>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Linear search finds cars;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Comparable</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and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Comparator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support reusable sorting rules</a:t>
            </a:r>
            <a:endParaRPr lang="en-US" sz="600" dirty="0"/>
          </a:p>
        </p:txBody>
      </p:sp>
      <p:sp>
        <p:nvSpPr>
          <p:cNvPr id="13" name="Shape 11"/>
          <p:cNvSpPr/>
          <p:nvPr/>
        </p:nvSpPr>
        <p:spPr>
          <a:xfrm>
            <a:off x="631908" y="2133402"/>
            <a:ext cx="39488" cy="39489"/>
          </a:xfrm>
          <a:prstGeom prst="ellipse">
            <a:avLst/>
          </a:prstGeom>
          <a:solidFill>
            <a:srgbClr val="DA1B2E"/>
          </a:solidFill>
          <a:ln/>
        </p:spPr>
      </p:sp>
      <p:sp>
        <p:nvSpPr>
          <p:cNvPr id="14" name="Text 12"/>
          <p:cNvSpPr/>
          <p:nvPr/>
        </p:nvSpPr>
        <p:spPr>
          <a:xfrm>
            <a:off x="710885" y="2091531"/>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Buffered File I/O</a:t>
            </a:r>
            <a:endParaRPr lang="en-US" sz="800" dirty="0"/>
          </a:p>
        </p:txBody>
      </p:sp>
      <p:sp>
        <p:nvSpPr>
          <p:cNvPr id="15" name="Text 13"/>
          <p:cNvSpPr/>
          <p:nvPr/>
        </p:nvSpPr>
        <p:spPr>
          <a:xfrm>
            <a:off x="710885" y="2260997"/>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Path</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Files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read and write records with buffered streams for durable storage</a:t>
            </a:r>
            <a:endParaRPr lang="en-US" sz="600" dirty="0"/>
          </a:p>
        </p:txBody>
      </p:sp>
      <p:sp>
        <p:nvSpPr>
          <p:cNvPr id="16" name="Shape 14"/>
          <p:cNvSpPr/>
          <p:nvPr/>
        </p:nvSpPr>
        <p:spPr>
          <a:xfrm>
            <a:off x="631908" y="2400102"/>
            <a:ext cx="4033042" cy="205284"/>
          </a:xfrm>
          <a:prstGeom prst="roundRect">
            <a:avLst>
              <a:gd name="adj" fmla="val 16161"/>
            </a:avLst>
          </a:prstGeom>
          <a:solidFill>
            <a:srgbClr val="F9D2D6"/>
          </a:solidFill>
          <a:ln/>
        </p:spPr>
      </p:sp>
      <p:pic>
        <p:nvPicPr>
          <p:cNvPr id="17" name="Image 0" descr="preencoded.png">    </p:cNvPr>
          <p:cNvPicPr>
            <a:picLocks noChangeAspect="1"/>
          </p:cNvPicPr>
          <p:nvPr/>
        </p:nvPicPr>
        <p:blipFill>
          <a:blip r:embed="rId1"/>
          <a:stretch>
            <a:fillRect/>
          </a:stretch>
        </p:blipFill>
        <p:spPr>
          <a:xfrm>
            <a:off x="710885" y="2460030"/>
            <a:ext cx="98720" cy="78978"/>
          </a:xfrm>
          <a:prstGeom prst="rect">
            <a:avLst/>
          </a:prstGeom>
        </p:spPr>
      </p:pic>
      <p:sp>
        <p:nvSpPr>
          <p:cNvPr id="18" name="Text 15"/>
          <p:cNvSpPr/>
          <p:nvPr/>
        </p:nvSpPr>
        <p:spPr>
          <a:xfrm>
            <a:off x="888581" y="2457069"/>
            <a:ext cx="4306978" cy="94754"/>
          </a:xfrm>
          <a:prstGeom prst="rect">
            <a:avLst/>
          </a:prstGeom>
          <a:noFill/>
          <a:ln/>
        </p:spPr>
        <p:txBody>
          <a:bodyPr wrap="none" lIns="0" tIns="0" rIns="0" bIns="0" rtlCol="0" anchor="t"/>
          <a:lstStyle/>
          <a:p>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CO5 connects core Java syntax to searching, optimization, and durable business records.</a:t>
            </a:r>
            <a:endParaRPr lang="en-US" sz="600" dirty="0"/>
          </a:p>
        </p:txBody>
      </p:sp>
      <p:sp>
        <p:nvSpPr>
          <p:cNvPr id="19" name="Text 16"/>
          <p:cNvSpPr/>
          <p:nvPr/>
        </p:nvSpPr>
        <p:spPr>
          <a:xfrm>
            <a:off x="4863978" y="795302"/>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CO5: Strings, Algorithms &amp; File I/O</a:t>
            </a:r>
            <a:endParaRPr lang="en-US" sz="800" dirty="0"/>
          </a:p>
        </p:txBody>
      </p:sp>
      <p:sp>
        <p:nvSpPr>
          <p:cNvPr id="20" name="Shape 17"/>
          <p:cNvSpPr/>
          <p:nvPr/>
        </p:nvSpPr>
        <p:spPr>
          <a:xfrm>
            <a:off x="4863978" y="967184"/>
            <a:ext cx="6702059" cy="5715397"/>
          </a:xfrm>
          <a:prstGeom prst="roundRect">
            <a:avLst>
              <a:gd name="adj" fmla="val 580"/>
            </a:avLst>
          </a:prstGeom>
          <a:solidFill>
            <a:srgbClr val="F2F2F2"/>
          </a:solidFill>
          <a:ln/>
        </p:spPr>
      </p:sp>
      <p:sp>
        <p:nvSpPr>
          <p:cNvPr id="21" name="Text 18"/>
          <p:cNvSpPr/>
          <p:nvPr/>
        </p:nvSpPr>
        <p:spPr>
          <a:xfrm>
            <a:off x="4958730" y="1046163"/>
            <a:ext cx="6512556" cy="5557441"/>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import java.io.*;</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import java.nio.file.*;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import java.util.*;</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class Rental implements Comparable&lt;Rental&gt;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 model; double cost;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Rental(String model, double cost) { this.model = model; this.cost = cost;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public int compareTo(Rental other) { return Double.compare(cost, other.cost);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public class FleetTools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String findModel(String[] models, String query)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 term = query.toLowerCase();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for (String model : models)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if (model.toLowerCase().contains(term)) return model;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return "No matching car";</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static void saveAndRead(Rental rental) throws IOException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StringBuilder record = new StringBuilder("Model: ").append(rental.model);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StringBuffer audit = new StringBuffer(" | Cost: Rs.").append(rental.cost);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Path path = Path.of("rental.txt");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Files.writeString(path, record.append(audit).toString()); // writing</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try (BufferedReader in = new BufferedReader(new FileReader(path.toFile())))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System.out.println("Saved: " + in.readLine()); // buffered reading</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 parts = "Honda City,5310".split(",");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 label = String.join(" / ", parts);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boolean sameText = new String("Honda").equals("Honda"); // content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boolean sameRef = new String("Honda") == new String("Honda"); // reference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Rental[] fleet = {new Rental("Toyota", 2500), new Rental("Honda", 1800)};</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Arrays.sort(fleet); // Comparable: lowest cost first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Arrays.sort(fleet, Comparator.comparing(r -&gt; r.model)); // Comparator: model order</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System.out.println(findModel(new String[]{"Toyota", "Honda City"}, "honda") + " | " + label);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try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saveAndRead(fleet[0]);</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 catch (IOException e)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System.out.println("File error: " + e.getMessage());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p:txBody>
      </p:sp>
      <p:sp>
        <p:nvSpPr>
          <p:cNvPr id="22" name="Text 19"/>
          <p:cNvSpPr/>
          <p:nvPr/>
        </p:nvSpPr>
        <p:spPr>
          <a:xfrm>
            <a:off x="4863978" y="6729377"/>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23" name="Shape 20"/>
          <p:cNvSpPr/>
          <p:nvPr/>
        </p:nvSpPr>
        <p:spPr>
          <a:xfrm>
            <a:off x="4863978" y="6901259"/>
            <a:ext cx="6702059" cy="410567"/>
          </a:xfrm>
          <a:prstGeom prst="roundRect">
            <a:avLst>
              <a:gd name="adj" fmla="val 8080"/>
            </a:avLst>
          </a:prstGeom>
          <a:solidFill>
            <a:srgbClr val="F2F2F2"/>
          </a:solidFill>
          <a:ln/>
        </p:spPr>
      </p:sp>
      <p:sp>
        <p:nvSpPr>
          <p:cNvPr id="24" name="Text 21"/>
          <p:cNvSpPr/>
          <p:nvPr/>
        </p:nvSpPr>
        <p:spPr>
          <a:xfrm>
            <a:off x="4958730" y="6980238"/>
            <a:ext cx="6512556" cy="252611"/>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Honda City | Honda / 5310</a:t>
            </a:r>
            <a:endParaRPr lang="en-US" sz="600" dirty="0"/>
          </a:p>
          <a:p>
            <a:pPr algn="l" indent="0" marL="0">
              <a:lnSpc>
                <a:spcPct val="133000"/>
              </a:lnSpc>
              <a:buNone/>
            </a:pPr>
            <a:r>
              <a:rPr lang="en-US" sz="600" dirty="0">
                <a:solidFill>
                  <a:srgbClr val="032F62"/>
                </a:solidFill>
                <a:latin typeface="Consolas" pitchFamily="34" charset="0"/>
                <a:ea typeface="Consolas" pitchFamily="34" charset="-122"/>
                <a:cs typeface="Consolas" pitchFamily="34" charset="-120"/>
              </a:rPr>
              <a:t>Saved: Model: Honda | Cost: Rs.1800.0</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31908" y="468610"/>
            <a:ext cx="785495" cy="119856"/>
          </a:xfrm>
          <a:prstGeom prst="roundRect">
            <a:avLst>
              <a:gd name="adj" fmla="val 22144"/>
            </a:avLst>
          </a:prstGeom>
          <a:solidFill>
            <a:srgbClr val="F9D2D6"/>
          </a:solidFill>
          <a:ln/>
        </p:spPr>
      </p:sp>
      <p:sp>
        <p:nvSpPr>
          <p:cNvPr id="3" name="Text 1"/>
          <p:cNvSpPr/>
          <p:nvPr/>
        </p:nvSpPr>
        <p:spPr>
          <a:xfrm>
            <a:off x="679235" y="495613"/>
            <a:ext cx="1300428" cy="72628"/>
          </a:xfrm>
          <a:prstGeom prst="rect">
            <a:avLst/>
          </a:prstGeom>
          <a:noFill/>
          <a:ln/>
        </p:spPr>
        <p:txBody>
          <a:bodyPr wrap="none" lIns="0" tIns="0" rIns="0" bIns="0" rtlCol="0" anchor="t"/>
          <a:lstStyle/>
          <a:p>
            <a:pPr algn="l" indent="0" marL="0">
              <a:lnSpc>
                <a:spcPct val="96000"/>
              </a:lnSpc>
              <a:buNone/>
            </a:pPr>
            <a:r>
              <a:rPr lang="en-US" sz="450" dirty="0">
                <a:solidFill>
                  <a:srgbClr val="3B3535"/>
                </a:solidFill>
                <a:latin typeface="Sora Light" pitchFamily="34" charset="0"/>
                <a:ea typeface="Sora Light" pitchFamily="34" charset="-122"/>
                <a:cs typeface="Sora Light" pitchFamily="34" charset="-120"/>
              </a:rPr>
              <a:t>COURSE OUTCOME 6</a:t>
            </a:r>
            <a:endParaRPr lang="en-US" sz="450" dirty="0"/>
          </a:p>
        </p:txBody>
      </p:sp>
      <p:sp>
        <p:nvSpPr>
          <p:cNvPr id="4" name="Shape 2"/>
          <p:cNvSpPr/>
          <p:nvPr/>
        </p:nvSpPr>
        <p:spPr>
          <a:xfrm>
            <a:off x="1456892" y="468610"/>
            <a:ext cx="475544" cy="119856"/>
          </a:xfrm>
          <a:prstGeom prst="roundRect">
            <a:avLst>
              <a:gd name="adj" fmla="val 22144"/>
            </a:avLst>
          </a:prstGeom>
          <a:solidFill>
            <a:srgbClr val="F9D2D6"/>
          </a:solidFill>
          <a:ln/>
        </p:spPr>
      </p:sp>
      <p:sp>
        <p:nvSpPr>
          <p:cNvPr id="5" name="Text 3"/>
          <p:cNvSpPr/>
          <p:nvPr/>
        </p:nvSpPr>
        <p:spPr>
          <a:xfrm>
            <a:off x="1504218" y="495613"/>
            <a:ext cx="990476" cy="72628"/>
          </a:xfrm>
          <a:prstGeom prst="rect">
            <a:avLst/>
          </a:prstGeom>
          <a:noFill/>
          <a:ln/>
        </p:spPr>
        <p:txBody>
          <a:bodyPr wrap="none" lIns="0" tIns="0" rIns="0" bIns="0" rtlCol="0" anchor="t"/>
          <a:lstStyle/>
          <a:p>
            <a:pPr algn="l" indent="0" marL="0">
              <a:lnSpc>
                <a:spcPct val="96000"/>
              </a:lnSpc>
              <a:buNone/>
            </a:pPr>
            <a:r>
              <a:rPr lang="en-US" sz="450" dirty="0">
                <a:solidFill>
                  <a:srgbClr val="3B3535"/>
                </a:solidFill>
                <a:latin typeface="Sora Light" pitchFamily="34" charset="0"/>
                <a:ea typeface="Sora Light" pitchFamily="34" charset="-122"/>
                <a:cs typeface="Sora Light" pitchFamily="34" charset="-120"/>
              </a:rPr>
              <a:t>EXTENSION</a:t>
            </a:r>
            <a:endParaRPr lang="en-US" sz="450" dirty="0"/>
          </a:p>
        </p:txBody>
      </p:sp>
      <p:sp>
        <p:nvSpPr>
          <p:cNvPr id="6" name="Text 4"/>
          <p:cNvSpPr/>
          <p:nvPr/>
        </p:nvSpPr>
        <p:spPr>
          <a:xfrm>
            <a:off x="631908" y="612307"/>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CO6: Collections Framework and Generics</a:t>
            </a:r>
            <a:endParaRPr lang="en-US" sz="1600" dirty="0"/>
          </a:p>
        </p:txBody>
      </p:sp>
      <p:sp>
        <p:nvSpPr>
          <p:cNvPr id="7" name="Text 5"/>
          <p:cNvSpPr/>
          <p:nvPr/>
        </p:nvSpPr>
        <p:spPr>
          <a:xfrm>
            <a:off x="631908" y="965164"/>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8" name="Shape 6"/>
          <p:cNvSpPr/>
          <p:nvPr/>
        </p:nvSpPr>
        <p:spPr>
          <a:xfrm>
            <a:off x="631908" y="1178917"/>
            <a:ext cx="39488" cy="39489"/>
          </a:xfrm>
          <a:prstGeom prst="ellipse">
            <a:avLst/>
          </a:prstGeom>
          <a:solidFill>
            <a:srgbClr val="DA1B2E"/>
          </a:solidFill>
          <a:ln/>
        </p:spPr>
      </p:sp>
      <p:sp>
        <p:nvSpPr>
          <p:cNvPr id="9" name="Text 7"/>
          <p:cNvSpPr/>
          <p:nvPr/>
        </p:nvSpPr>
        <p:spPr>
          <a:xfrm>
            <a:off x="710885" y="113704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List, Set, and Map Interfaces</a:t>
            </a:r>
            <a:endParaRPr lang="en-US" sz="800" dirty="0"/>
          </a:p>
        </p:txBody>
      </p:sp>
      <p:sp>
        <p:nvSpPr>
          <p:cNvPr id="10" name="Text 8"/>
          <p:cNvSpPr/>
          <p:nvPr/>
        </p:nvSpPr>
        <p:spPr>
          <a:xfrm>
            <a:off x="710885" y="130651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Foundational interfaces for organizing data in Java</a:t>
            </a:r>
            <a:endParaRPr lang="en-US" sz="600" dirty="0"/>
          </a:p>
        </p:txBody>
      </p:sp>
      <p:sp>
        <p:nvSpPr>
          <p:cNvPr id="11" name="Shape 9"/>
          <p:cNvSpPr/>
          <p:nvPr/>
        </p:nvSpPr>
        <p:spPr>
          <a:xfrm>
            <a:off x="631908" y="1522115"/>
            <a:ext cx="39488" cy="39489"/>
          </a:xfrm>
          <a:prstGeom prst="ellipse">
            <a:avLst/>
          </a:prstGeom>
          <a:solidFill>
            <a:srgbClr val="DA1B2E"/>
          </a:solidFill>
          <a:ln/>
        </p:spPr>
      </p:sp>
      <p:sp>
        <p:nvSpPr>
          <p:cNvPr id="12" name="Text 10"/>
          <p:cNvSpPr/>
          <p:nvPr/>
        </p:nvSpPr>
        <p:spPr>
          <a:xfrm>
            <a:off x="710885" y="1480245"/>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Implementations</a:t>
            </a:r>
            <a:endParaRPr lang="en-US" sz="800" dirty="0"/>
          </a:p>
        </p:txBody>
      </p:sp>
      <p:sp>
        <p:nvSpPr>
          <p:cNvPr id="13" name="Text 11"/>
          <p:cNvSpPr/>
          <p:nvPr/>
        </p:nvSpPr>
        <p:spPr>
          <a:xfrm>
            <a:off x="710885" y="164971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ArrayList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HashMap</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HashSet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and ordered collections like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TreeMap</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TreeSet</a:t>
            </a:r>
            <a:endParaRPr lang="en-US" sz="600" dirty="0"/>
          </a:p>
        </p:txBody>
      </p:sp>
      <p:sp>
        <p:nvSpPr>
          <p:cNvPr id="14" name="Shape 12"/>
          <p:cNvSpPr/>
          <p:nvPr/>
        </p:nvSpPr>
        <p:spPr>
          <a:xfrm>
            <a:off x="631908" y="1865312"/>
            <a:ext cx="39488" cy="39489"/>
          </a:xfrm>
          <a:prstGeom prst="ellipse">
            <a:avLst/>
          </a:prstGeom>
          <a:solidFill>
            <a:srgbClr val="DA1B2E"/>
          </a:solidFill>
          <a:ln/>
        </p:spPr>
      </p:sp>
      <p:sp>
        <p:nvSpPr>
          <p:cNvPr id="15" name="Text 13"/>
          <p:cNvSpPr/>
          <p:nvPr/>
        </p:nvSpPr>
        <p:spPr>
          <a:xfrm>
            <a:off x="710885" y="182344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Core Operations</a:t>
            </a:r>
            <a:endParaRPr lang="en-US" sz="800" dirty="0"/>
          </a:p>
        </p:txBody>
      </p:sp>
      <p:sp>
        <p:nvSpPr>
          <p:cNvPr id="16" name="Text 14"/>
          <p:cNvSpPr/>
          <p:nvPr/>
        </p:nvSpPr>
        <p:spPr>
          <a:xfrm>
            <a:off x="710885" y="1992908"/>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Adding, removing, searching, and iterating through collection elements</a:t>
            </a:r>
            <a:endParaRPr lang="en-US" sz="600" dirty="0"/>
          </a:p>
        </p:txBody>
      </p:sp>
      <p:sp>
        <p:nvSpPr>
          <p:cNvPr id="17" name="Shape 15"/>
          <p:cNvSpPr/>
          <p:nvPr/>
        </p:nvSpPr>
        <p:spPr>
          <a:xfrm>
            <a:off x="631908" y="2208510"/>
            <a:ext cx="39488" cy="39489"/>
          </a:xfrm>
          <a:prstGeom prst="ellipse">
            <a:avLst/>
          </a:prstGeom>
          <a:solidFill>
            <a:srgbClr val="DA1B2E"/>
          </a:solidFill>
          <a:ln/>
        </p:spPr>
      </p:sp>
      <p:sp>
        <p:nvSpPr>
          <p:cNvPr id="18" name="Text 16"/>
          <p:cNvSpPr/>
          <p:nvPr/>
        </p:nvSpPr>
        <p:spPr>
          <a:xfrm>
            <a:off x="710885" y="2166640"/>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Generics</a:t>
            </a:r>
            <a:endParaRPr lang="en-US" sz="800" dirty="0"/>
          </a:p>
        </p:txBody>
      </p:sp>
      <p:sp>
        <p:nvSpPr>
          <p:cNvPr id="19" name="Text 17"/>
          <p:cNvSpPr/>
          <p:nvPr/>
        </p:nvSpPr>
        <p:spPr>
          <a:xfrm>
            <a:off x="710885" y="233610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Ensuring type safety with typed collections (e.g.,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ArrayList&lt;String&gt;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t>
            </a:r>
            <a:endParaRPr lang="en-US" sz="600" dirty="0"/>
          </a:p>
        </p:txBody>
      </p:sp>
      <p:sp>
        <p:nvSpPr>
          <p:cNvPr id="20" name="Shape 18"/>
          <p:cNvSpPr/>
          <p:nvPr/>
        </p:nvSpPr>
        <p:spPr>
          <a:xfrm>
            <a:off x="631908" y="2551708"/>
            <a:ext cx="39488" cy="39489"/>
          </a:xfrm>
          <a:prstGeom prst="ellipse">
            <a:avLst/>
          </a:prstGeom>
          <a:solidFill>
            <a:srgbClr val="DA1B2E"/>
          </a:solidFill>
          <a:ln/>
        </p:spPr>
      </p:sp>
      <p:sp>
        <p:nvSpPr>
          <p:cNvPr id="21" name="Text 19"/>
          <p:cNvSpPr/>
          <p:nvPr/>
        </p:nvSpPr>
        <p:spPr>
          <a:xfrm>
            <a:off x="710885" y="2509838"/>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Autoboxing</a:t>
            </a:r>
            <a:endParaRPr lang="en-US" sz="800" dirty="0"/>
          </a:p>
        </p:txBody>
      </p:sp>
      <p:sp>
        <p:nvSpPr>
          <p:cNvPr id="22" name="Text 20"/>
          <p:cNvSpPr/>
          <p:nvPr/>
        </p:nvSpPr>
        <p:spPr>
          <a:xfrm>
            <a:off x="710885" y="267930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Automatic conversion of primitive types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int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to their wrapper classes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Integer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t>
            </a:r>
            <a:endParaRPr lang="en-US" sz="600" dirty="0"/>
          </a:p>
        </p:txBody>
      </p:sp>
      <p:sp>
        <p:nvSpPr>
          <p:cNvPr id="23" name="Shape 21"/>
          <p:cNvSpPr/>
          <p:nvPr/>
        </p:nvSpPr>
        <p:spPr>
          <a:xfrm>
            <a:off x="631908" y="2894905"/>
            <a:ext cx="39488" cy="39489"/>
          </a:xfrm>
          <a:prstGeom prst="ellipse">
            <a:avLst/>
          </a:prstGeom>
          <a:solidFill>
            <a:srgbClr val="DA1B2E"/>
          </a:solidFill>
          <a:ln/>
        </p:spPr>
      </p:sp>
      <p:sp>
        <p:nvSpPr>
          <p:cNvPr id="24" name="Text 22"/>
          <p:cNvSpPr/>
          <p:nvPr/>
        </p:nvSpPr>
        <p:spPr>
          <a:xfrm>
            <a:off x="710885" y="2853035"/>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Iteration</a:t>
            </a:r>
            <a:endParaRPr lang="en-US" sz="800" dirty="0"/>
          </a:p>
        </p:txBody>
      </p:sp>
      <p:sp>
        <p:nvSpPr>
          <p:cNvPr id="25" name="Text 23"/>
          <p:cNvSpPr/>
          <p:nvPr/>
        </p:nvSpPr>
        <p:spPr>
          <a:xfrm>
            <a:off x="710885" y="3022501"/>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Efficiently processing elements using for-each loops and the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Iterator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interface</a:t>
            </a:r>
            <a:endParaRPr lang="en-US" sz="600" dirty="0"/>
          </a:p>
        </p:txBody>
      </p:sp>
      <p:sp>
        <p:nvSpPr>
          <p:cNvPr id="26" name="Shape 24"/>
          <p:cNvSpPr/>
          <p:nvPr/>
        </p:nvSpPr>
        <p:spPr>
          <a:xfrm>
            <a:off x="631908" y="3161605"/>
            <a:ext cx="4033042" cy="205284"/>
          </a:xfrm>
          <a:prstGeom prst="roundRect">
            <a:avLst>
              <a:gd name="adj" fmla="val 16161"/>
            </a:avLst>
          </a:prstGeom>
          <a:solidFill>
            <a:srgbClr val="F9D2D6"/>
          </a:solidFill>
          <a:ln/>
        </p:spPr>
      </p:sp>
      <p:pic>
        <p:nvPicPr>
          <p:cNvPr id="27" name="Image 0" descr="preencoded.png">    </p:cNvPr>
          <p:cNvPicPr>
            <a:picLocks noChangeAspect="1"/>
          </p:cNvPicPr>
          <p:nvPr/>
        </p:nvPicPr>
        <p:blipFill>
          <a:blip r:embed="rId1"/>
          <a:stretch>
            <a:fillRect/>
          </a:stretch>
        </p:blipFill>
        <p:spPr>
          <a:xfrm>
            <a:off x="710885" y="3221534"/>
            <a:ext cx="98720" cy="78978"/>
          </a:xfrm>
          <a:prstGeom prst="rect">
            <a:avLst/>
          </a:prstGeom>
        </p:spPr>
      </p:pic>
      <p:sp>
        <p:nvSpPr>
          <p:cNvPr id="28" name="Text 25"/>
          <p:cNvSpPr/>
          <p:nvPr/>
        </p:nvSpPr>
        <p:spPr>
          <a:xfrm>
            <a:off x="888581" y="3218573"/>
            <a:ext cx="4306978" cy="94754"/>
          </a:xfrm>
          <a:prstGeom prst="rect">
            <a:avLst/>
          </a:prstGeom>
          <a:noFill/>
          <a:ln/>
        </p:spPr>
        <p:txBody>
          <a:bodyPr wrap="none" lIns="0" tIns="0" rIns="0" bIns="0" rtlCol="0" anchor="t"/>
          <a:lstStyle/>
          <a:p>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HashSet order is not guaranteed; the output above shows the typical order for this example.</a:t>
            </a:r>
            <a:endParaRPr lang="en-US" sz="600" dirty="0"/>
          </a:p>
        </p:txBody>
      </p:sp>
      <p:sp>
        <p:nvSpPr>
          <p:cNvPr id="29" name="Text 26"/>
          <p:cNvSpPr/>
          <p:nvPr/>
        </p:nvSpPr>
        <p:spPr>
          <a:xfrm>
            <a:off x="4863978" y="965164"/>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CO6: Collections Framework and Generics</a:t>
            </a:r>
            <a:endParaRPr lang="en-US" sz="800" dirty="0"/>
          </a:p>
        </p:txBody>
      </p:sp>
      <p:sp>
        <p:nvSpPr>
          <p:cNvPr id="30" name="Shape 27"/>
          <p:cNvSpPr/>
          <p:nvPr/>
        </p:nvSpPr>
        <p:spPr>
          <a:xfrm>
            <a:off x="4863978" y="1137047"/>
            <a:ext cx="6702059" cy="4073426"/>
          </a:xfrm>
          <a:prstGeom prst="roundRect">
            <a:avLst>
              <a:gd name="adj" fmla="val 814"/>
            </a:avLst>
          </a:prstGeom>
          <a:solidFill>
            <a:srgbClr val="F2F2F2"/>
          </a:solidFill>
          <a:ln/>
        </p:spPr>
      </p:sp>
      <p:sp>
        <p:nvSpPr>
          <p:cNvPr id="31" name="Text 28"/>
          <p:cNvSpPr/>
          <p:nvPr/>
        </p:nvSpPr>
        <p:spPr>
          <a:xfrm>
            <a:off x="4958730" y="1216025"/>
            <a:ext cx="6512556" cy="3915470"/>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import java.util.*;</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public class CarCollectionsDemo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List&lt;String&gt; carModels = new ArrayList&lt;&gt;();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carModels.add("Toyota Fortuner");</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carModels.add("Honda City");</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carModels.add("Maruti Swift");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carModels.remove("Honda City");</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Set&lt;String&gt; uniqueColors = new HashSet&lt;&gt;();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uniqueColors.add("White");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uniqueColors.add("Black");</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uniqueColors.add("White");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Map&lt;Integer, String&gt; carById = new TreeMap&lt;&gt;();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carById.put(103, "Maruti Swift");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carById.put(101, "Toyota Fortuner");</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Integer carId = 101;</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System.out.println("Car " + carId + ": " + carById.get(carId));</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for (String model : carModels)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System.out.println("Model: " + model);</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System.out.println("Unique colors: " + uniqueColors);</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for (Map.Entry&lt;Integer, String&gt; entry : carById.entrySet())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System.out.println(entry.getKey() + " -&gt; " + entry.getValue());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a:t>
            </a:r>
            <a:endParaRPr lang="en-US" sz="600" dirty="0"/>
          </a:p>
        </p:txBody>
      </p:sp>
      <p:sp>
        <p:nvSpPr>
          <p:cNvPr id="32" name="Text 29"/>
          <p:cNvSpPr/>
          <p:nvPr/>
        </p:nvSpPr>
        <p:spPr>
          <a:xfrm>
            <a:off x="4863978" y="5257268"/>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33" name="Shape 30"/>
          <p:cNvSpPr/>
          <p:nvPr/>
        </p:nvSpPr>
        <p:spPr>
          <a:xfrm>
            <a:off x="4863978" y="5429151"/>
            <a:ext cx="6702059" cy="915789"/>
          </a:xfrm>
          <a:prstGeom prst="roundRect">
            <a:avLst>
              <a:gd name="adj" fmla="val 3623"/>
            </a:avLst>
          </a:prstGeom>
          <a:solidFill>
            <a:srgbClr val="F2F2F2"/>
          </a:solidFill>
          <a:ln/>
        </p:spPr>
      </p:sp>
      <p:sp>
        <p:nvSpPr>
          <p:cNvPr id="34" name="Text 31"/>
          <p:cNvSpPr/>
          <p:nvPr/>
        </p:nvSpPr>
        <p:spPr>
          <a:xfrm>
            <a:off x="4958730" y="5508129"/>
            <a:ext cx="6512556" cy="757833"/>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Car 101: Toyota Fortuner</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Model: Toyota Fortuner</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Model: Maruti Swift</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Unique colors: [White, Black]</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101 -&gt; Toyota Fortuner</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103 -&gt; Maruti Swift</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31908" y="434380"/>
            <a:ext cx="785495" cy="119856"/>
          </a:xfrm>
          <a:prstGeom prst="roundRect">
            <a:avLst>
              <a:gd name="adj" fmla="val 22144"/>
            </a:avLst>
          </a:prstGeom>
          <a:solidFill>
            <a:srgbClr val="F9D2D6"/>
          </a:solidFill>
          <a:ln/>
        </p:spPr>
      </p:sp>
      <p:sp>
        <p:nvSpPr>
          <p:cNvPr id="3" name="Text 1"/>
          <p:cNvSpPr/>
          <p:nvPr/>
        </p:nvSpPr>
        <p:spPr>
          <a:xfrm>
            <a:off x="679235" y="461382"/>
            <a:ext cx="1300428" cy="72628"/>
          </a:xfrm>
          <a:prstGeom prst="rect">
            <a:avLst/>
          </a:prstGeom>
          <a:noFill/>
          <a:ln/>
        </p:spPr>
        <p:txBody>
          <a:bodyPr wrap="none" lIns="0" tIns="0" rIns="0" bIns="0" rtlCol="0" anchor="t"/>
          <a:lstStyle/>
          <a:p>
            <a:pPr algn="l" indent="0" marL="0">
              <a:lnSpc>
                <a:spcPct val="96000"/>
              </a:lnSpc>
              <a:buNone/>
            </a:pPr>
            <a:r>
              <a:rPr lang="en-US" sz="450" dirty="0">
                <a:solidFill>
                  <a:srgbClr val="3B3535"/>
                </a:solidFill>
                <a:latin typeface="Sora Light" pitchFamily="34" charset="0"/>
                <a:ea typeface="Sora Light" pitchFamily="34" charset="-122"/>
                <a:cs typeface="Sora Light" pitchFamily="34" charset="-120"/>
              </a:rPr>
              <a:t>COURSE OUTCOME 6</a:t>
            </a:r>
            <a:endParaRPr lang="en-US" sz="450" dirty="0"/>
          </a:p>
        </p:txBody>
      </p:sp>
      <p:sp>
        <p:nvSpPr>
          <p:cNvPr id="4" name="Shape 2"/>
          <p:cNvSpPr/>
          <p:nvPr/>
        </p:nvSpPr>
        <p:spPr>
          <a:xfrm>
            <a:off x="1456892" y="434380"/>
            <a:ext cx="475544" cy="119856"/>
          </a:xfrm>
          <a:prstGeom prst="roundRect">
            <a:avLst>
              <a:gd name="adj" fmla="val 22144"/>
            </a:avLst>
          </a:prstGeom>
          <a:solidFill>
            <a:srgbClr val="F9D2D6"/>
          </a:solidFill>
          <a:ln/>
        </p:spPr>
      </p:sp>
      <p:sp>
        <p:nvSpPr>
          <p:cNvPr id="5" name="Text 3"/>
          <p:cNvSpPr/>
          <p:nvPr/>
        </p:nvSpPr>
        <p:spPr>
          <a:xfrm>
            <a:off x="1504218" y="461382"/>
            <a:ext cx="990476" cy="72628"/>
          </a:xfrm>
          <a:prstGeom prst="rect">
            <a:avLst/>
          </a:prstGeom>
          <a:noFill/>
          <a:ln/>
        </p:spPr>
        <p:txBody>
          <a:bodyPr wrap="none" lIns="0" tIns="0" rIns="0" bIns="0" rtlCol="0" anchor="t"/>
          <a:lstStyle/>
          <a:p>
            <a:pPr algn="l" indent="0" marL="0">
              <a:lnSpc>
                <a:spcPct val="96000"/>
              </a:lnSpc>
              <a:buNone/>
            </a:pPr>
            <a:r>
              <a:rPr lang="en-US" sz="450" dirty="0">
                <a:solidFill>
                  <a:srgbClr val="3B3535"/>
                </a:solidFill>
                <a:latin typeface="Sora Light" pitchFamily="34" charset="0"/>
                <a:ea typeface="Sora Light" pitchFamily="34" charset="-122"/>
                <a:cs typeface="Sora Light" pitchFamily="34" charset="-120"/>
              </a:rPr>
              <a:t>EXTENSION</a:t>
            </a:r>
            <a:endParaRPr lang="en-US" sz="450" dirty="0"/>
          </a:p>
        </p:txBody>
      </p:sp>
      <p:sp>
        <p:nvSpPr>
          <p:cNvPr id="6" name="Text 4"/>
          <p:cNvSpPr/>
          <p:nvPr/>
        </p:nvSpPr>
        <p:spPr>
          <a:xfrm>
            <a:off x="631908" y="578077"/>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CO6: Functional Interfaces and Lambda Expressions</a:t>
            </a:r>
            <a:endParaRPr lang="en-US" sz="1600" dirty="0"/>
          </a:p>
        </p:txBody>
      </p:sp>
      <p:sp>
        <p:nvSpPr>
          <p:cNvPr id="7" name="Text 5"/>
          <p:cNvSpPr/>
          <p:nvPr/>
        </p:nvSpPr>
        <p:spPr>
          <a:xfrm>
            <a:off x="631908" y="930934"/>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8" name="Shape 6"/>
          <p:cNvSpPr/>
          <p:nvPr/>
        </p:nvSpPr>
        <p:spPr>
          <a:xfrm>
            <a:off x="631908" y="1144687"/>
            <a:ext cx="39488" cy="39489"/>
          </a:xfrm>
          <a:prstGeom prst="ellipse">
            <a:avLst/>
          </a:prstGeom>
          <a:solidFill>
            <a:srgbClr val="DA1B2E"/>
          </a:solidFill>
          <a:ln/>
        </p:spPr>
      </p:sp>
      <p:sp>
        <p:nvSpPr>
          <p:cNvPr id="9" name="Text 7"/>
          <p:cNvSpPr/>
          <p:nvPr/>
        </p:nvSpPr>
        <p:spPr>
          <a:xfrm>
            <a:off x="710885" y="1102816"/>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Lambda expressions and method references</a:t>
            </a:r>
            <a:endParaRPr lang="en-US" sz="800" dirty="0"/>
          </a:p>
        </p:txBody>
      </p:sp>
      <p:sp>
        <p:nvSpPr>
          <p:cNvPr id="10" name="Text 8"/>
          <p:cNvSpPr/>
          <p:nvPr/>
        </p:nvSpPr>
        <p:spPr>
          <a:xfrm>
            <a:off x="710885" y="1272282"/>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Concise syntax for implementing single-method interfaces</a:t>
            </a:r>
            <a:endParaRPr lang="en-US" sz="600" dirty="0"/>
          </a:p>
        </p:txBody>
      </p:sp>
      <p:sp>
        <p:nvSpPr>
          <p:cNvPr id="11" name="Shape 9"/>
          <p:cNvSpPr/>
          <p:nvPr/>
        </p:nvSpPr>
        <p:spPr>
          <a:xfrm>
            <a:off x="631908" y="1487884"/>
            <a:ext cx="39488" cy="39489"/>
          </a:xfrm>
          <a:prstGeom prst="ellipse">
            <a:avLst/>
          </a:prstGeom>
          <a:solidFill>
            <a:srgbClr val="DA1B2E"/>
          </a:solidFill>
          <a:ln/>
        </p:spPr>
      </p:sp>
      <p:sp>
        <p:nvSpPr>
          <p:cNvPr id="12" name="Text 10"/>
          <p:cNvSpPr/>
          <p:nvPr/>
        </p:nvSpPr>
        <p:spPr>
          <a:xfrm>
            <a:off x="710885" y="144601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Predicate for filtering available cars</a:t>
            </a:r>
            <a:endParaRPr lang="en-US" sz="800" dirty="0"/>
          </a:p>
        </p:txBody>
      </p:sp>
      <p:sp>
        <p:nvSpPr>
          <p:cNvPr id="13" name="Text 11"/>
          <p:cNvSpPr/>
          <p:nvPr/>
        </p:nvSpPr>
        <p:spPr>
          <a:xfrm>
            <a:off x="710885" y="161548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Represents a boolean-valued function of one argument for conditional checks</a:t>
            </a:r>
            <a:endParaRPr lang="en-US" sz="600" dirty="0"/>
          </a:p>
        </p:txBody>
      </p:sp>
      <p:sp>
        <p:nvSpPr>
          <p:cNvPr id="14" name="Shape 12"/>
          <p:cNvSpPr/>
          <p:nvPr/>
        </p:nvSpPr>
        <p:spPr>
          <a:xfrm>
            <a:off x="631908" y="1831082"/>
            <a:ext cx="39488" cy="39489"/>
          </a:xfrm>
          <a:prstGeom prst="ellipse">
            <a:avLst/>
          </a:prstGeom>
          <a:solidFill>
            <a:srgbClr val="DA1B2E"/>
          </a:solidFill>
          <a:ln/>
        </p:spPr>
      </p:sp>
      <p:sp>
        <p:nvSpPr>
          <p:cNvPr id="15" name="Text 13"/>
          <p:cNvSpPr/>
          <p:nvPr/>
        </p:nvSpPr>
        <p:spPr>
          <a:xfrm>
            <a:off x="710885" y="178921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Function for extracting models or rental costs</a:t>
            </a:r>
            <a:endParaRPr lang="en-US" sz="800" dirty="0"/>
          </a:p>
        </p:txBody>
      </p:sp>
      <p:sp>
        <p:nvSpPr>
          <p:cNvPr id="16" name="Text 14"/>
          <p:cNvSpPr/>
          <p:nvPr/>
        </p:nvSpPr>
        <p:spPr>
          <a:xfrm>
            <a:off x="710885" y="1958677"/>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Represents a function that accepts one argument and produces a result</a:t>
            </a:r>
            <a:endParaRPr lang="en-US" sz="600" dirty="0"/>
          </a:p>
        </p:txBody>
      </p:sp>
      <p:sp>
        <p:nvSpPr>
          <p:cNvPr id="17" name="Shape 15"/>
          <p:cNvSpPr/>
          <p:nvPr/>
        </p:nvSpPr>
        <p:spPr>
          <a:xfrm>
            <a:off x="631908" y="2174280"/>
            <a:ext cx="39488" cy="39489"/>
          </a:xfrm>
          <a:prstGeom prst="ellipse">
            <a:avLst/>
          </a:prstGeom>
          <a:solidFill>
            <a:srgbClr val="DA1B2E"/>
          </a:solidFill>
          <a:ln/>
        </p:spPr>
      </p:sp>
      <p:sp>
        <p:nvSpPr>
          <p:cNvPr id="18" name="Text 16"/>
          <p:cNvSpPr/>
          <p:nvPr/>
        </p:nvSpPr>
        <p:spPr>
          <a:xfrm>
            <a:off x="710885" y="2132409"/>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Consumer for displaying car details</a:t>
            </a:r>
            <a:endParaRPr lang="en-US" sz="800" dirty="0"/>
          </a:p>
        </p:txBody>
      </p:sp>
      <p:sp>
        <p:nvSpPr>
          <p:cNvPr id="19" name="Text 17"/>
          <p:cNvSpPr/>
          <p:nvPr/>
        </p:nvSpPr>
        <p:spPr>
          <a:xfrm>
            <a:off x="710885" y="230187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Represents an operation that accepts a single input argument and returns no result</a:t>
            </a:r>
            <a:endParaRPr lang="en-US" sz="600" dirty="0"/>
          </a:p>
        </p:txBody>
      </p:sp>
      <p:sp>
        <p:nvSpPr>
          <p:cNvPr id="20" name="Shape 18"/>
          <p:cNvSpPr/>
          <p:nvPr/>
        </p:nvSpPr>
        <p:spPr>
          <a:xfrm>
            <a:off x="631908" y="2517477"/>
            <a:ext cx="39488" cy="39489"/>
          </a:xfrm>
          <a:prstGeom prst="ellipse">
            <a:avLst/>
          </a:prstGeom>
          <a:solidFill>
            <a:srgbClr val="DA1B2E"/>
          </a:solidFill>
          <a:ln/>
        </p:spPr>
      </p:sp>
      <p:sp>
        <p:nvSpPr>
          <p:cNvPr id="21" name="Text 19"/>
          <p:cNvSpPr/>
          <p:nvPr/>
        </p:nvSpPr>
        <p:spPr>
          <a:xfrm>
            <a:off x="710885" y="247560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Supplier for providing default values</a:t>
            </a:r>
            <a:endParaRPr lang="en-US" sz="800" dirty="0"/>
          </a:p>
        </p:txBody>
      </p:sp>
      <p:sp>
        <p:nvSpPr>
          <p:cNvPr id="22" name="Text 20"/>
          <p:cNvSpPr/>
          <p:nvPr/>
        </p:nvSpPr>
        <p:spPr>
          <a:xfrm>
            <a:off x="710885" y="264507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Represents a supplier of results, useful for factory methods or default values</a:t>
            </a:r>
            <a:endParaRPr lang="en-US" sz="600" dirty="0"/>
          </a:p>
        </p:txBody>
      </p:sp>
      <p:sp>
        <p:nvSpPr>
          <p:cNvPr id="23" name="Shape 21"/>
          <p:cNvSpPr/>
          <p:nvPr/>
        </p:nvSpPr>
        <p:spPr>
          <a:xfrm>
            <a:off x="631908" y="2860675"/>
            <a:ext cx="39488" cy="39489"/>
          </a:xfrm>
          <a:prstGeom prst="ellipse">
            <a:avLst/>
          </a:prstGeom>
          <a:solidFill>
            <a:srgbClr val="DA1B2E"/>
          </a:solidFill>
          <a:ln/>
        </p:spPr>
      </p:sp>
      <p:sp>
        <p:nvSpPr>
          <p:cNvPr id="24" name="Text 22"/>
          <p:cNvSpPr/>
          <p:nvPr/>
        </p:nvSpPr>
        <p:spPr>
          <a:xfrm>
            <a:off x="710885" y="2818805"/>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Comparator for sorting cars by rental price</a:t>
            </a:r>
            <a:endParaRPr lang="en-US" sz="800" dirty="0"/>
          </a:p>
        </p:txBody>
      </p:sp>
      <p:sp>
        <p:nvSpPr>
          <p:cNvPr id="25" name="Text 23"/>
          <p:cNvSpPr/>
          <p:nvPr/>
        </p:nvSpPr>
        <p:spPr>
          <a:xfrm>
            <a:off x="710885" y="298827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Used to define custom sorting logic for objects</a:t>
            </a:r>
            <a:endParaRPr lang="en-US" sz="600" dirty="0"/>
          </a:p>
        </p:txBody>
      </p:sp>
      <p:sp>
        <p:nvSpPr>
          <p:cNvPr id="26" name="Shape 24"/>
          <p:cNvSpPr/>
          <p:nvPr/>
        </p:nvSpPr>
        <p:spPr>
          <a:xfrm>
            <a:off x="631908" y="3203873"/>
            <a:ext cx="39488" cy="39489"/>
          </a:xfrm>
          <a:prstGeom prst="ellipse">
            <a:avLst/>
          </a:prstGeom>
          <a:solidFill>
            <a:srgbClr val="DA1B2E"/>
          </a:solidFill>
          <a:ln/>
        </p:spPr>
      </p:sp>
      <p:sp>
        <p:nvSpPr>
          <p:cNvPr id="27" name="Text 25"/>
          <p:cNvSpPr/>
          <p:nvPr/>
        </p:nvSpPr>
        <p:spPr>
          <a:xfrm>
            <a:off x="710885" y="316200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Traditional loops vs declarative processing</a:t>
            </a:r>
            <a:endParaRPr lang="en-US" sz="800" dirty="0"/>
          </a:p>
        </p:txBody>
      </p:sp>
      <p:sp>
        <p:nvSpPr>
          <p:cNvPr id="28" name="Text 26"/>
          <p:cNvSpPr/>
          <p:nvPr/>
        </p:nvSpPr>
        <p:spPr>
          <a:xfrm>
            <a:off x="710885" y="3331468"/>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Leveraging streams and functional interfaces for more readable and expressive code</a:t>
            </a:r>
            <a:endParaRPr lang="en-US" sz="600" dirty="0"/>
          </a:p>
        </p:txBody>
      </p:sp>
      <p:sp>
        <p:nvSpPr>
          <p:cNvPr id="29" name="Text 27"/>
          <p:cNvSpPr/>
          <p:nvPr/>
        </p:nvSpPr>
        <p:spPr>
          <a:xfrm>
            <a:off x="4863978" y="930934"/>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CO6: Functional Interfaces and Lambda Expressions</a:t>
            </a:r>
            <a:endParaRPr lang="en-US" sz="800" dirty="0"/>
          </a:p>
        </p:txBody>
      </p:sp>
      <p:sp>
        <p:nvSpPr>
          <p:cNvPr id="30" name="Shape 28"/>
          <p:cNvSpPr/>
          <p:nvPr/>
        </p:nvSpPr>
        <p:spPr>
          <a:xfrm>
            <a:off x="4863978" y="1102816"/>
            <a:ext cx="6702059" cy="4831259"/>
          </a:xfrm>
          <a:prstGeom prst="roundRect">
            <a:avLst>
              <a:gd name="adj" fmla="val 687"/>
            </a:avLst>
          </a:prstGeom>
          <a:solidFill>
            <a:srgbClr val="F2F2F2"/>
          </a:solidFill>
          <a:ln/>
        </p:spPr>
      </p:sp>
      <p:sp>
        <p:nvSpPr>
          <p:cNvPr id="31" name="Text 29"/>
          <p:cNvSpPr/>
          <p:nvPr/>
        </p:nvSpPr>
        <p:spPr>
          <a:xfrm>
            <a:off x="4958730" y="1181795"/>
            <a:ext cx="6512556" cy="4673302"/>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import java.util.*;</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import java.util.function.*;</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class Car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String model;</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double dailyRate;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boolean available;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Car(String model, double dailyRate, boolean available)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this.model = model;</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this.dailyRate = dailyRate;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this.available = available;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public class CarLambdaDemo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List&lt;Car&gt; fleet = new ArrayList&lt;&gt;();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fleet.add(new Car("Toyota Fortuner", 2500, true));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fleet.add(new Car("Honda City", 1500, false));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fleet.add(new Car("Maruti Swift", 1000, true));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Predicate&lt;Car&gt; isAvailable = c -&gt; c.available;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Consumer&lt;Car&gt; show = c -&gt; System.out.println(c.model + " - Rs." + c.dailyRate);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Supplier&lt;String&gt; defaultModel = () -&gt; "Unknown Car";</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Function&lt;Car, String&gt; getModel = c -&gt; c.model;</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System.out.println("Available cars:");</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fleet.stream().filter(isAvailable).forEach(show);</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fleet.sort(Comparator.comparingDouble(c -&gt; c.dailyRate));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System.out.println("Sorted by rate:");</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fleet.forEach(c -&gt; System.out.println(getModel.apply(c)));</a:t>
            </a:r>
            <a:endParaRPr lang="en-US" sz="600" dirty="0"/>
          </a:p>
          <a:p>
            <a:pPr algn="l" indent="0" marL="0">
              <a:lnSpc>
                <a:spcPct val="133000"/>
              </a:lnSpc>
              <a:buNone/>
            </a:pP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System.out.println("Default: " + defaultModel.get());</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24292E"/>
                </a:solidFill>
                <a:latin typeface="Consolas" pitchFamily="34" charset="0"/>
                <a:ea typeface="Consolas" pitchFamily="34" charset="-122"/>
                <a:cs typeface="Consolas" pitchFamily="34" charset="-120"/>
              </a:rPr>
              <a:t>}</a:t>
            </a:r>
            <a:endParaRPr lang="en-US" sz="600" dirty="0"/>
          </a:p>
        </p:txBody>
      </p:sp>
      <p:sp>
        <p:nvSpPr>
          <p:cNvPr id="32" name="Text 30"/>
          <p:cNvSpPr/>
          <p:nvPr/>
        </p:nvSpPr>
        <p:spPr>
          <a:xfrm>
            <a:off x="4863978" y="5980871"/>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33" name="Shape 31"/>
          <p:cNvSpPr/>
          <p:nvPr/>
        </p:nvSpPr>
        <p:spPr>
          <a:xfrm>
            <a:off x="4863978" y="6152753"/>
            <a:ext cx="6702059" cy="1168400"/>
          </a:xfrm>
          <a:prstGeom prst="roundRect">
            <a:avLst>
              <a:gd name="adj" fmla="val 2839"/>
            </a:avLst>
          </a:prstGeom>
          <a:solidFill>
            <a:srgbClr val="F2F2F2"/>
          </a:solidFill>
          <a:ln/>
        </p:spPr>
      </p:sp>
      <p:sp>
        <p:nvSpPr>
          <p:cNvPr id="34" name="Text 32"/>
          <p:cNvSpPr/>
          <p:nvPr/>
        </p:nvSpPr>
        <p:spPr>
          <a:xfrm>
            <a:off x="4958730" y="6231731"/>
            <a:ext cx="6512556" cy="1010444"/>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Available cars:</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Toyota Fortuner - Rs.2500.0</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Maruti Swift - Rs.1000.0</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Sorted by rate:</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Maruti Swift</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Honda City</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Toyota Fortuner</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Default: Unknown Car</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31908" y="434380"/>
            <a:ext cx="785495" cy="119856"/>
          </a:xfrm>
          <a:prstGeom prst="roundRect">
            <a:avLst>
              <a:gd name="adj" fmla="val 22144"/>
            </a:avLst>
          </a:prstGeom>
          <a:solidFill>
            <a:srgbClr val="F9D2D6"/>
          </a:solidFill>
          <a:ln/>
        </p:spPr>
      </p:sp>
      <p:sp>
        <p:nvSpPr>
          <p:cNvPr id="3" name="Text 1"/>
          <p:cNvSpPr/>
          <p:nvPr/>
        </p:nvSpPr>
        <p:spPr>
          <a:xfrm>
            <a:off x="679235" y="461382"/>
            <a:ext cx="1300428" cy="72628"/>
          </a:xfrm>
          <a:prstGeom prst="rect">
            <a:avLst/>
          </a:prstGeom>
          <a:noFill/>
          <a:ln/>
        </p:spPr>
        <p:txBody>
          <a:bodyPr wrap="none" lIns="0" tIns="0" rIns="0" bIns="0" rtlCol="0" anchor="t"/>
          <a:lstStyle/>
          <a:p>
            <a:pPr algn="l" indent="0" marL="0">
              <a:lnSpc>
                <a:spcPct val="96000"/>
              </a:lnSpc>
              <a:buNone/>
            </a:pPr>
            <a:r>
              <a:rPr lang="en-US" sz="450" dirty="0">
                <a:solidFill>
                  <a:srgbClr val="3B3535"/>
                </a:solidFill>
                <a:latin typeface="Sora Light" pitchFamily="34" charset="0"/>
                <a:ea typeface="Sora Light" pitchFamily="34" charset="-122"/>
                <a:cs typeface="Sora Light" pitchFamily="34" charset="-120"/>
              </a:rPr>
              <a:t>COURSE OUTCOME 6</a:t>
            </a:r>
            <a:endParaRPr lang="en-US" sz="450" dirty="0"/>
          </a:p>
        </p:txBody>
      </p:sp>
      <p:sp>
        <p:nvSpPr>
          <p:cNvPr id="4" name="Shape 2"/>
          <p:cNvSpPr/>
          <p:nvPr/>
        </p:nvSpPr>
        <p:spPr>
          <a:xfrm>
            <a:off x="1456892" y="434380"/>
            <a:ext cx="475544" cy="119856"/>
          </a:xfrm>
          <a:prstGeom prst="roundRect">
            <a:avLst>
              <a:gd name="adj" fmla="val 22144"/>
            </a:avLst>
          </a:prstGeom>
          <a:solidFill>
            <a:srgbClr val="F9D2D6"/>
          </a:solidFill>
          <a:ln/>
        </p:spPr>
      </p:sp>
      <p:sp>
        <p:nvSpPr>
          <p:cNvPr id="5" name="Text 3"/>
          <p:cNvSpPr/>
          <p:nvPr/>
        </p:nvSpPr>
        <p:spPr>
          <a:xfrm>
            <a:off x="1504218" y="461382"/>
            <a:ext cx="990476" cy="72628"/>
          </a:xfrm>
          <a:prstGeom prst="rect">
            <a:avLst/>
          </a:prstGeom>
          <a:noFill/>
          <a:ln/>
        </p:spPr>
        <p:txBody>
          <a:bodyPr wrap="none" lIns="0" tIns="0" rIns="0" bIns="0" rtlCol="0" anchor="t"/>
          <a:lstStyle/>
          <a:p>
            <a:pPr algn="l" indent="0" marL="0">
              <a:lnSpc>
                <a:spcPct val="96000"/>
              </a:lnSpc>
              <a:buNone/>
            </a:pPr>
            <a:r>
              <a:rPr lang="en-US" sz="450" dirty="0">
                <a:solidFill>
                  <a:srgbClr val="3B3535"/>
                </a:solidFill>
                <a:latin typeface="Sora Light" pitchFamily="34" charset="0"/>
                <a:ea typeface="Sora Light" pitchFamily="34" charset="-122"/>
                <a:cs typeface="Sora Light" pitchFamily="34" charset="-120"/>
              </a:rPr>
              <a:t>EXTENSION</a:t>
            </a:r>
            <a:endParaRPr lang="en-US" sz="450" dirty="0"/>
          </a:p>
        </p:txBody>
      </p:sp>
      <p:sp>
        <p:nvSpPr>
          <p:cNvPr id="6" name="Text 4"/>
          <p:cNvSpPr/>
          <p:nvPr/>
        </p:nvSpPr>
        <p:spPr>
          <a:xfrm>
            <a:off x="631908" y="578077"/>
            <a:ext cx="10927878" cy="25975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Sora SemiBold" pitchFamily="34" charset="0"/>
                <a:ea typeface="Sora SemiBold" pitchFamily="34" charset="-122"/>
                <a:cs typeface="Sora SemiBold" pitchFamily="34" charset="-120"/>
              </a:rPr>
              <a:t>CO6: Streams, Collectors, and File Processing</a:t>
            </a:r>
            <a:endParaRPr lang="en-US" sz="1600" dirty="0"/>
          </a:p>
        </p:txBody>
      </p:sp>
      <p:sp>
        <p:nvSpPr>
          <p:cNvPr id="7" name="Text 5"/>
          <p:cNvSpPr/>
          <p:nvPr/>
        </p:nvSpPr>
        <p:spPr>
          <a:xfrm>
            <a:off x="631908" y="930934"/>
            <a:ext cx="4033042"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Concepts Applied</a:t>
            </a:r>
            <a:endParaRPr lang="en-US" sz="800" dirty="0"/>
          </a:p>
        </p:txBody>
      </p:sp>
      <p:sp>
        <p:nvSpPr>
          <p:cNvPr id="8" name="Shape 6"/>
          <p:cNvSpPr/>
          <p:nvPr/>
        </p:nvSpPr>
        <p:spPr>
          <a:xfrm>
            <a:off x="631908" y="1144687"/>
            <a:ext cx="39488" cy="39489"/>
          </a:xfrm>
          <a:prstGeom prst="ellipse">
            <a:avLst/>
          </a:prstGeom>
          <a:solidFill>
            <a:srgbClr val="DA1B2E"/>
          </a:solidFill>
          <a:ln/>
        </p:spPr>
      </p:sp>
      <p:sp>
        <p:nvSpPr>
          <p:cNvPr id="9" name="Text 7"/>
          <p:cNvSpPr/>
          <p:nvPr/>
        </p:nvSpPr>
        <p:spPr>
          <a:xfrm>
            <a:off x="710885" y="1102816"/>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Creating Streams</a:t>
            </a:r>
            <a:endParaRPr lang="en-US" sz="800" dirty="0"/>
          </a:p>
        </p:txBody>
      </p:sp>
      <p:sp>
        <p:nvSpPr>
          <p:cNvPr id="10" name="Text 8"/>
          <p:cNvSpPr/>
          <p:nvPr/>
        </p:nvSpPr>
        <p:spPr>
          <a:xfrm>
            <a:off x="710885" y="1272282"/>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From collections and file lines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Files.lines()</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a:t>
            </a:r>
            <a:endParaRPr lang="en-US" sz="600" dirty="0"/>
          </a:p>
        </p:txBody>
      </p:sp>
      <p:sp>
        <p:nvSpPr>
          <p:cNvPr id="11" name="Shape 9"/>
          <p:cNvSpPr/>
          <p:nvPr/>
        </p:nvSpPr>
        <p:spPr>
          <a:xfrm>
            <a:off x="631908" y="1487884"/>
            <a:ext cx="39488" cy="39489"/>
          </a:xfrm>
          <a:prstGeom prst="ellipse">
            <a:avLst/>
          </a:prstGeom>
          <a:solidFill>
            <a:srgbClr val="DA1B2E"/>
          </a:solidFill>
          <a:ln/>
        </p:spPr>
      </p:sp>
      <p:sp>
        <p:nvSpPr>
          <p:cNvPr id="12" name="Text 10"/>
          <p:cNvSpPr/>
          <p:nvPr/>
        </p:nvSpPr>
        <p:spPr>
          <a:xfrm>
            <a:off x="710885" y="1446014"/>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Intermediate Operations</a:t>
            </a:r>
            <a:endParaRPr lang="en-US" sz="800" dirty="0"/>
          </a:p>
        </p:txBody>
      </p:sp>
      <p:sp>
        <p:nvSpPr>
          <p:cNvPr id="13" name="Text 11"/>
          <p:cNvSpPr/>
          <p:nvPr/>
        </p:nvSpPr>
        <p:spPr>
          <a:xfrm>
            <a:off x="710885" y="1615480"/>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filter()</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map()</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sorted()</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distinct()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limit()</a:t>
            </a:r>
            <a:endParaRPr lang="en-US" sz="600" dirty="0"/>
          </a:p>
        </p:txBody>
      </p:sp>
      <p:sp>
        <p:nvSpPr>
          <p:cNvPr id="14" name="Shape 12"/>
          <p:cNvSpPr/>
          <p:nvPr/>
        </p:nvSpPr>
        <p:spPr>
          <a:xfrm>
            <a:off x="631908" y="1831082"/>
            <a:ext cx="39488" cy="39489"/>
          </a:xfrm>
          <a:prstGeom prst="ellipse">
            <a:avLst/>
          </a:prstGeom>
          <a:solidFill>
            <a:srgbClr val="DA1B2E"/>
          </a:solidFill>
          <a:ln/>
        </p:spPr>
      </p:sp>
      <p:sp>
        <p:nvSpPr>
          <p:cNvPr id="15" name="Text 13"/>
          <p:cNvSpPr/>
          <p:nvPr/>
        </p:nvSpPr>
        <p:spPr>
          <a:xfrm>
            <a:off x="710885" y="1789212"/>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Terminal Operations</a:t>
            </a:r>
            <a:endParaRPr lang="en-US" sz="800" dirty="0"/>
          </a:p>
        </p:txBody>
      </p:sp>
      <p:sp>
        <p:nvSpPr>
          <p:cNvPr id="16" name="Text 14"/>
          <p:cNvSpPr/>
          <p:nvPr/>
        </p:nvSpPr>
        <p:spPr>
          <a:xfrm>
            <a:off x="710885" y="1958677"/>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forEach()</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collect()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count()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reduce()</a:t>
            </a:r>
            <a:endParaRPr lang="en-US" sz="600" dirty="0"/>
          </a:p>
        </p:txBody>
      </p:sp>
      <p:sp>
        <p:nvSpPr>
          <p:cNvPr id="17" name="Shape 15"/>
          <p:cNvSpPr/>
          <p:nvPr/>
        </p:nvSpPr>
        <p:spPr>
          <a:xfrm>
            <a:off x="631908" y="2174280"/>
            <a:ext cx="39488" cy="39489"/>
          </a:xfrm>
          <a:prstGeom prst="ellipse">
            <a:avLst/>
          </a:prstGeom>
          <a:solidFill>
            <a:srgbClr val="DA1B2E"/>
          </a:solidFill>
          <a:ln/>
        </p:spPr>
      </p:sp>
      <p:sp>
        <p:nvSpPr>
          <p:cNvPr id="18" name="Text 16"/>
          <p:cNvSpPr/>
          <p:nvPr/>
        </p:nvSpPr>
        <p:spPr>
          <a:xfrm>
            <a:off x="710885" y="2132409"/>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Collectors</a:t>
            </a:r>
            <a:endParaRPr lang="en-US" sz="800" dirty="0"/>
          </a:p>
        </p:txBody>
      </p:sp>
      <p:sp>
        <p:nvSpPr>
          <p:cNvPr id="19" name="Text 17"/>
          <p:cNvSpPr/>
          <p:nvPr/>
        </p:nvSpPr>
        <p:spPr>
          <a:xfrm>
            <a:off x="710885" y="2301875"/>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toList()</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groupingBy()</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counting()</a:t>
            </a:r>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 </a:t>
            </a:r>
            <a:pPr algn="l" indent="0" marL="0">
              <a:lnSpc>
                <a:spcPct val="100000"/>
              </a:lnSpc>
              <a:buNone/>
            </a:pPr>
            <a:r>
              <a:rPr lang="en-US" sz="600" dirty="0">
                <a:solidFill>
                  <a:srgbClr val="3B3535"/>
                </a:solidFill>
                <a:highlight>
                  <a:srgbClr val="F2F2F2"/>
                </a:highlight>
                <a:latin typeface="Consolas" pitchFamily="34" charset="0"/>
                <a:ea typeface="Consolas" pitchFamily="34" charset="-122"/>
                <a:cs typeface="Consolas" pitchFamily="34" charset="-120"/>
              </a:rPr>
              <a:t>joining()</a:t>
            </a:r>
            <a:endParaRPr lang="en-US" sz="600" dirty="0"/>
          </a:p>
        </p:txBody>
      </p:sp>
      <p:sp>
        <p:nvSpPr>
          <p:cNvPr id="20" name="Shape 18"/>
          <p:cNvSpPr/>
          <p:nvPr/>
        </p:nvSpPr>
        <p:spPr>
          <a:xfrm>
            <a:off x="631908" y="2517477"/>
            <a:ext cx="39488" cy="39489"/>
          </a:xfrm>
          <a:prstGeom prst="ellipse">
            <a:avLst/>
          </a:prstGeom>
          <a:solidFill>
            <a:srgbClr val="DA1B2E"/>
          </a:solidFill>
          <a:ln/>
        </p:spPr>
      </p:sp>
      <p:sp>
        <p:nvSpPr>
          <p:cNvPr id="21" name="Text 19"/>
          <p:cNvSpPr/>
          <p:nvPr/>
        </p:nvSpPr>
        <p:spPr>
          <a:xfrm>
            <a:off x="710885" y="2475607"/>
            <a:ext cx="3954066" cy="129977"/>
          </a:xfrm>
          <a:prstGeom prst="rect">
            <a:avLst/>
          </a:prstGeom>
          <a:noFill/>
          <a:ln/>
        </p:spPr>
        <p:txBody>
          <a:bodyPr wrap="none" lIns="0" tIns="0" rIns="0" bIns="0" rtlCol="0" anchor="t"/>
          <a:lstStyle/>
          <a:p>
            <a:pPr algn="l" indent="0" marL="0">
              <a:lnSpc>
                <a:spcPct val="104000"/>
              </a:lnSpc>
              <a:buNone/>
            </a:pPr>
            <a:r>
              <a:rPr lang="en-US" sz="800" dirty="0">
                <a:solidFill>
                  <a:srgbClr val="3B3535"/>
                </a:solidFill>
                <a:latin typeface="Sora SemiBold" pitchFamily="34" charset="0"/>
                <a:ea typeface="Sora SemiBold" pitchFamily="34" charset="-122"/>
                <a:cs typeface="Sora SemiBold" pitchFamily="34" charset="-120"/>
              </a:rPr>
              <a:t>Generating Reports</a:t>
            </a:r>
            <a:endParaRPr lang="en-US" sz="800" dirty="0"/>
          </a:p>
        </p:txBody>
      </p:sp>
      <p:sp>
        <p:nvSpPr>
          <p:cNvPr id="22" name="Text 20"/>
          <p:cNvSpPr/>
          <p:nvPr/>
        </p:nvSpPr>
        <p:spPr>
          <a:xfrm>
            <a:off x="710885" y="2645073"/>
            <a:ext cx="3954066" cy="94754"/>
          </a:xfrm>
          <a:prstGeom prst="rect">
            <a:avLst/>
          </a:prstGeom>
          <a:noFill/>
          <a:ln/>
        </p:spPr>
        <p:txBody>
          <a:bodyPr wrap="none" lIns="0" tIns="0" rIns="0" bIns="0" rtlCol="0" anchor="t"/>
          <a:lstStyle/>
          <a:p>
            <a:pPr algn="l" indent="0" marL="0">
              <a:lnSpc>
                <a:spcPct val="100000"/>
              </a:lnSpc>
              <a:buNone/>
            </a:pPr>
            <a:r>
              <a:rPr lang="en-US" sz="600" dirty="0">
                <a:solidFill>
                  <a:srgbClr val="3B3535"/>
                </a:solidFill>
                <a:latin typeface="Sora Light" pitchFamily="34" charset="0"/>
                <a:ea typeface="Sora Light" pitchFamily="34" charset="-122"/>
                <a:cs typeface="Sora Light" pitchFamily="34" charset="-120"/>
              </a:rPr>
              <a:t>Such as available-car lists and rental summaries</a:t>
            </a:r>
            <a:endParaRPr lang="en-US" sz="600" dirty="0"/>
          </a:p>
        </p:txBody>
      </p:sp>
      <p:sp>
        <p:nvSpPr>
          <p:cNvPr id="23" name="Text 21"/>
          <p:cNvSpPr/>
          <p:nvPr/>
        </p:nvSpPr>
        <p:spPr>
          <a:xfrm>
            <a:off x="4863978" y="930934"/>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Code Example – CO6: Streams, Collectors, and File Processing</a:t>
            </a:r>
            <a:endParaRPr lang="en-US" sz="800" dirty="0"/>
          </a:p>
        </p:txBody>
      </p:sp>
      <p:sp>
        <p:nvSpPr>
          <p:cNvPr id="24" name="Shape 22"/>
          <p:cNvSpPr/>
          <p:nvPr/>
        </p:nvSpPr>
        <p:spPr>
          <a:xfrm>
            <a:off x="4863978" y="1102816"/>
            <a:ext cx="6702059" cy="5968008"/>
          </a:xfrm>
          <a:prstGeom prst="roundRect">
            <a:avLst>
              <a:gd name="adj" fmla="val 556"/>
            </a:avLst>
          </a:prstGeom>
          <a:solidFill>
            <a:srgbClr val="F2F2F2"/>
          </a:solidFill>
          <a:ln/>
        </p:spPr>
      </p:sp>
      <p:sp>
        <p:nvSpPr>
          <p:cNvPr id="25" name="Text 23"/>
          <p:cNvSpPr/>
          <p:nvPr/>
        </p:nvSpPr>
        <p:spPr>
          <a:xfrm>
            <a:off x="4958730" y="1181795"/>
            <a:ext cx="6512556" cy="5810052"/>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import java.util.*;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import java.util.stream.*;</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class Car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String model;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double dailyRate;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boolean available;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Car(String model, double dailyRate, boolean available)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this.model = model;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this.dailyRate = dailyRate;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this.available = available;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public class CarStreamReport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public static void main(String[] args)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List&lt;Car&gt; fleet = List.of(</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new Car("Toyota Fortuner", 2500, true),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new Car("Honda City", 1500, false),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new Car("Maruti Swift", 1000, true),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new Car("Maruti Swift", 1000, true)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List&lt;String&gt; availableModels = fleet.stream()</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.filter(c -&gt; c.available)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.map(c -&gt; c.model)</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.distinct()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.sorted()</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.collect(Collectors.toList());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System.out.println("Available models: " + availableModels);</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long availableCount = fleet.stream().filter(c -&gt; c.available).count();</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System.out.println("Available cars: " + availableCount);</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double totalRate = fleet.stream()</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.filter(c -&gt; c.available)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.map(c -&gt; c.dailyRate)</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.reduce(0.0, Double::sum);</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System.out.println("Total daily rate (available): Rs." + totalRate);</a:t>
            </a:r>
            <a:endParaRPr lang="en-US" sz="600" dirty="0"/>
          </a:p>
          <a:p>
            <a:pPr algn="l" indent="0" marL="0">
              <a:lnSpc>
                <a:spcPct val="133000"/>
              </a:lnSpc>
              <a:buNone/>
            </a:pP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Map&lt;Boolean, Long&gt; byStatus = fleet.stream()</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.collect(Collectors.groupingBy(c -&gt; c.available, Collectors.counting()));</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System.out.println("Count by status: " + byStatus);</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    }</a:t>
            </a:r>
            <a:endParaRPr lang="en-US" sz="600" dirty="0"/>
          </a:p>
          <a:p>
            <a:pPr algn="l" indent="0" marL="0">
              <a:lnSpc>
                <a:spcPct val="133000"/>
              </a:lnSpc>
              <a:buNone/>
            </a:pPr>
            <a:r>
              <a:rPr lang="en-US" sz="600" dirty="0">
                <a:solidFill>
                  <a:srgbClr val="D73A49"/>
                </a:solidFill>
                <a:latin typeface="Consolas" pitchFamily="34" charset="0"/>
                <a:ea typeface="Consolas" pitchFamily="34" charset="-122"/>
                <a:cs typeface="Consolas" pitchFamily="34" charset="-120"/>
              </a:rPr>
              <a:t>}</a:t>
            </a:r>
            <a:endParaRPr lang="en-US" sz="600" dirty="0"/>
          </a:p>
        </p:txBody>
      </p:sp>
      <p:sp>
        <p:nvSpPr>
          <p:cNvPr id="26" name="Text 24"/>
          <p:cNvSpPr/>
          <p:nvPr/>
        </p:nvSpPr>
        <p:spPr>
          <a:xfrm>
            <a:off x="4863978" y="7117620"/>
            <a:ext cx="6702059" cy="129977"/>
          </a:xfrm>
          <a:prstGeom prst="rect">
            <a:avLst/>
          </a:prstGeom>
          <a:noFill/>
          <a:ln/>
        </p:spPr>
        <p:txBody>
          <a:bodyPr wrap="none" lIns="0" tIns="0" rIns="0" bIns="0" rtlCol="0" anchor="t"/>
          <a:lstStyle/>
          <a:p>
            <a:pPr algn="l" indent="0" marL="0">
              <a:lnSpc>
                <a:spcPct val="104000"/>
              </a:lnSpc>
              <a:buNone/>
            </a:pPr>
            <a:r>
              <a:rPr lang="en-US" sz="800" dirty="0">
                <a:solidFill>
                  <a:srgbClr val="1F1E1E"/>
                </a:solidFill>
                <a:latin typeface="Sora SemiBold" pitchFamily="34" charset="0"/>
                <a:ea typeface="Sora SemiBold" pitchFamily="34" charset="-122"/>
                <a:cs typeface="Sora SemiBold" pitchFamily="34" charset="-120"/>
              </a:rPr>
              <a:t>Expected Output</a:t>
            </a:r>
            <a:endParaRPr lang="en-US" sz="800" dirty="0"/>
          </a:p>
        </p:txBody>
      </p:sp>
      <p:sp>
        <p:nvSpPr>
          <p:cNvPr id="27" name="Shape 25"/>
          <p:cNvSpPr/>
          <p:nvPr/>
        </p:nvSpPr>
        <p:spPr>
          <a:xfrm>
            <a:off x="4863978" y="7289502"/>
            <a:ext cx="6702059" cy="663178"/>
          </a:xfrm>
          <a:prstGeom prst="roundRect">
            <a:avLst>
              <a:gd name="adj" fmla="val 5003"/>
            </a:avLst>
          </a:prstGeom>
          <a:solidFill>
            <a:srgbClr val="F2F2F2"/>
          </a:solidFill>
          <a:ln/>
        </p:spPr>
      </p:sp>
      <p:sp>
        <p:nvSpPr>
          <p:cNvPr id="28" name="Text 26"/>
          <p:cNvSpPr/>
          <p:nvPr/>
        </p:nvSpPr>
        <p:spPr>
          <a:xfrm>
            <a:off x="4958730" y="7368480"/>
            <a:ext cx="6512556" cy="505222"/>
          </a:xfrm>
          <a:prstGeom prst="rect">
            <a:avLst/>
          </a:prstGeom>
          <a:noFill/>
          <a:ln/>
        </p:spPr>
        <p:txBody>
          <a:bodyPr wrap="square" lIns="0" tIns="0" rIns="0" bIns="0" rtlCol="0" anchor="t">
            <a:normAutofit/>
          </a:bodyPr>
          <a:lstStyle/>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Available models: [Maruti Swift, Toyota Fortuner]</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Available cars: 3</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Total daily rate (available): Rs.4500.0</a:t>
            </a:r>
            <a:endParaRPr lang="en-US" sz="600" dirty="0"/>
          </a:p>
          <a:p>
            <a:pPr algn="l" indent="0" marL="0">
              <a:lnSpc>
                <a:spcPct val="133000"/>
              </a:lnSpc>
              <a:buNone/>
            </a:pPr>
            <a:r>
              <a:rPr lang="en-US" sz="600" dirty="0">
                <a:solidFill>
                  <a:srgbClr val="005CC5"/>
                </a:solidFill>
                <a:latin typeface="Consolas" pitchFamily="34" charset="0"/>
                <a:ea typeface="Consolas" pitchFamily="34" charset="-122"/>
                <a:cs typeface="Consolas" pitchFamily="34" charset="-120"/>
              </a:rPr>
              <a:t>Count by status: {false=1, true=3}</a:t>
            </a:r>
            <a:endParaRPr lang="en-US" sz="600" dirty="0"/>
          </a:p>
        </p:txBody>
      </p:sp>
      <p:sp>
        <p:nvSpPr>
          <p:cNvPr id="29" name="Shape 27"/>
          <p:cNvSpPr/>
          <p:nvPr/>
        </p:nvSpPr>
        <p:spPr>
          <a:xfrm>
            <a:off x="4863978" y="7997031"/>
            <a:ext cx="6702059" cy="205284"/>
          </a:xfrm>
          <a:prstGeom prst="roundRect">
            <a:avLst>
              <a:gd name="adj" fmla="val 16161"/>
            </a:avLst>
          </a:prstGeom>
          <a:solidFill>
            <a:srgbClr val="F9D2D6"/>
          </a:solidFill>
          <a:ln/>
        </p:spPr>
      </p:sp>
      <p:pic>
        <p:nvPicPr>
          <p:cNvPr id="30" name="Image 0" descr="preencoded.png">    </p:cNvPr>
          <p:cNvPicPr>
            <a:picLocks noChangeAspect="1"/>
          </p:cNvPicPr>
          <p:nvPr/>
        </p:nvPicPr>
        <p:blipFill>
          <a:blip r:embed="rId1"/>
          <a:stretch>
            <a:fillRect/>
          </a:stretch>
        </p:blipFill>
        <p:spPr>
          <a:xfrm>
            <a:off x="4942954" y="8056959"/>
            <a:ext cx="98720" cy="78978"/>
          </a:xfrm>
          <a:prstGeom prst="rect">
            <a:avLst/>
          </a:prstGeom>
        </p:spPr>
      </p:pic>
      <p:sp>
        <p:nvSpPr>
          <p:cNvPr id="31" name="Text 28"/>
          <p:cNvSpPr/>
          <p:nvPr/>
        </p:nvSpPr>
        <p:spPr>
          <a:xfrm>
            <a:off x="5120651" y="8053999"/>
            <a:ext cx="6975995" cy="94754"/>
          </a:xfrm>
          <a:prstGeom prst="rect">
            <a:avLst/>
          </a:prstGeom>
          <a:noFill/>
          <a:ln/>
        </p:spPr>
        <p:txBody>
          <a:bodyPr wrap="none" lIns="0" tIns="0" rIns="0" bIns="0" rtlCol="0" anchor="t"/>
          <a:lstStyle/>
          <a:p>
            <a:pPr algn="l" indent="0" marL="0">
              <a:lnSpc>
                <a:spcPct val="100000"/>
              </a:lnSpc>
              <a:buNone/>
            </a:pPr>
            <a:r>
              <a:rPr lang="en-US" sz="600" dirty="0">
                <a:solidFill>
                  <a:srgbClr val="000000"/>
                </a:solidFill>
                <a:highlight>
                  <a:srgbClr val="F2F2F2"/>
                </a:highlight>
                <a:latin typeface="Consolas" pitchFamily="34" charset="0"/>
                <a:ea typeface="Consolas" pitchFamily="34" charset="-122"/>
                <a:cs typeface="Consolas" pitchFamily="34" charset="-120"/>
              </a:rPr>
              <a:t>Files.lines(Path)</a:t>
            </a:r>
            <a:pPr algn="l" indent="0" marL="0">
              <a:lnSpc>
                <a:spcPct val="100000"/>
              </a:lnSpc>
              <a:buNone/>
            </a:pPr>
            <a:r>
              <a:rPr lang="en-US" sz="600" dirty="0">
                <a:solidFill>
                  <a:srgbClr val="000000"/>
                </a:solidFill>
                <a:latin typeface="Sora Light" pitchFamily="34" charset="0"/>
                <a:ea typeface="Sora Light" pitchFamily="34" charset="-122"/>
                <a:cs typeface="Sora Light" pitchFamily="34" charset="-120"/>
              </a:rPr>
              <a:t> can read a file of rental records as a stream in the same way, but this example uses an in-memory list for simplicity.</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31908" y="566210"/>
            <a:ext cx="10927878" cy="341015"/>
          </a:xfrm>
          <a:prstGeom prst="rect">
            <a:avLst/>
          </a:prstGeom>
          <a:noFill/>
          <a:ln/>
        </p:spPr>
        <p:txBody>
          <a:bodyPr wrap="none" lIns="0" tIns="0" rIns="0" bIns="0" rtlCol="0" anchor="t"/>
          <a:lstStyle/>
          <a:p>
            <a:pPr algn="l" indent="0" marL="0">
              <a:lnSpc>
                <a:spcPct val="104000"/>
              </a:lnSpc>
              <a:buNone/>
            </a:pPr>
            <a:r>
              <a:rPr lang="en-US" sz="2100" dirty="0">
                <a:solidFill>
                  <a:srgbClr val="1F1E1E"/>
                </a:solidFill>
                <a:latin typeface="Sora SemiBold" pitchFamily="34" charset="0"/>
                <a:ea typeface="Sora SemiBold" pitchFamily="34" charset="-122"/>
                <a:cs typeface="Sora SemiBold" pitchFamily="34" charset="-120"/>
              </a:rPr>
              <a:t>Conclusion</a:t>
            </a:r>
            <a:endParaRPr lang="en-US" sz="2100" dirty="0"/>
          </a:p>
        </p:txBody>
      </p:sp>
      <p:sp>
        <p:nvSpPr>
          <p:cNvPr id="3" name="Text 1"/>
          <p:cNvSpPr/>
          <p:nvPr/>
        </p:nvSpPr>
        <p:spPr>
          <a:xfrm>
            <a:off x="631908" y="1061032"/>
            <a:ext cx="5896522"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The </a:t>
            </a:r>
            <a:pPr algn="l" indent="0" marL="0">
              <a:lnSpc>
                <a:spcPct val="110000"/>
              </a:lnSpc>
              <a:buNone/>
            </a:pPr>
            <a:r>
              <a:rPr lang="en-US" sz="800" b="1" dirty="0">
                <a:solidFill>
                  <a:srgbClr val="3B3535"/>
                </a:solidFill>
                <a:latin typeface="Sora SemiBold" pitchFamily="34" charset="0"/>
                <a:ea typeface="Sora SemiBold" pitchFamily="34" charset="-122"/>
                <a:cs typeface="Sora SemiBold" pitchFamily="34" charset="-120"/>
              </a:rPr>
              <a:t>Car Rental Fleet Manager</a:t>
            </a:r>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 demonstrates how five course outcomes build a real-world Java application step by step. Each outcome adds a distinct layer of capability, from basic syntax to persistent, maintainable software.</a:t>
            </a:r>
            <a:endParaRPr lang="en-US" sz="8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 y="1411585"/>
            <a:ext cx="5896522" cy="745629"/>
          </a:xfrm>
          <a:prstGeom prst="rect">
            <a:avLst/>
          </a:prstGeom>
        </p:spPr>
      </p:pic>
      <p:sp>
        <p:nvSpPr>
          <p:cNvPr id="5" name="Text 2"/>
          <p:cNvSpPr/>
          <p:nvPr/>
        </p:nvSpPr>
        <p:spPr>
          <a:xfrm>
            <a:off x="771010" y="1687215"/>
            <a:ext cx="155472" cy="194370"/>
          </a:xfrm>
          <a:prstGeom prst="rect">
            <a:avLst/>
          </a:prstGeom>
          <a:noFill/>
          <a:ln/>
        </p:spPr>
        <p:txBody>
          <a:bodyPr wrap="none" lIns="0" tIns="0" rIns="0" bIns="0" rtlCol="0" anchor="ctr"/>
          <a:lstStyle/>
          <a:p>
            <a:pPr algn="ctr" indent="0" marL="0">
              <a:lnSpc>
                <a:spcPct val="100000"/>
              </a:lnSpc>
              <a:buNone/>
            </a:pPr>
            <a:r>
              <a:rPr lang="en-US" sz="1200" dirty="0">
                <a:solidFill>
                  <a:srgbClr val="3B3535"/>
                </a:solidFill>
                <a:latin typeface="Sora SemiBold" pitchFamily="34" charset="0"/>
                <a:ea typeface="Sora SemiBold" pitchFamily="34" charset="-122"/>
                <a:cs typeface="Sora SemiBold" pitchFamily="34" charset="-120"/>
              </a:rPr>
              <a:t>1</a:t>
            </a:r>
            <a:endParaRPr lang="en-US" sz="1200" dirty="0"/>
          </a:p>
        </p:txBody>
      </p:sp>
      <p:sp>
        <p:nvSpPr>
          <p:cNvPr id="6" name="Text 3"/>
          <p:cNvSpPr/>
          <p:nvPr/>
        </p:nvSpPr>
        <p:spPr>
          <a:xfrm>
            <a:off x="1127196" y="1527870"/>
            <a:ext cx="528495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CO1 – Foundations</a:t>
            </a:r>
            <a:endParaRPr lang="en-US" sz="1050" dirty="0"/>
          </a:p>
        </p:txBody>
      </p:sp>
      <p:sp>
        <p:nvSpPr>
          <p:cNvPr id="7" name="Text 4"/>
          <p:cNvSpPr/>
          <p:nvPr/>
        </p:nvSpPr>
        <p:spPr>
          <a:xfrm>
            <a:off x="1127196" y="1766292"/>
            <a:ext cx="5284953"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Established the data model using variables, data types, constants, and basic I/O — the structural backbone of the application</a:t>
            </a:r>
            <a:endParaRPr lang="en-US" sz="8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2225179"/>
            <a:ext cx="5896522" cy="745629"/>
          </a:xfrm>
          <a:prstGeom prst="rect">
            <a:avLst/>
          </a:prstGeom>
        </p:spPr>
      </p:pic>
      <p:sp>
        <p:nvSpPr>
          <p:cNvPr id="9" name="Text 5"/>
          <p:cNvSpPr/>
          <p:nvPr/>
        </p:nvSpPr>
        <p:spPr>
          <a:xfrm>
            <a:off x="771010" y="2500809"/>
            <a:ext cx="155472" cy="194370"/>
          </a:xfrm>
          <a:prstGeom prst="rect">
            <a:avLst/>
          </a:prstGeom>
          <a:noFill/>
          <a:ln/>
        </p:spPr>
        <p:txBody>
          <a:bodyPr wrap="none" lIns="0" tIns="0" rIns="0" bIns="0" rtlCol="0" anchor="ctr"/>
          <a:lstStyle/>
          <a:p>
            <a:pPr algn="ctr" indent="0" marL="0">
              <a:lnSpc>
                <a:spcPct val="100000"/>
              </a:lnSpc>
              <a:buNone/>
            </a:pPr>
            <a:r>
              <a:rPr lang="en-US" sz="1200" dirty="0">
                <a:solidFill>
                  <a:srgbClr val="3B3535"/>
                </a:solidFill>
                <a:latin typeface="Sora SemiBold" pitchFamily="34" charset="0"/>
                <a:ea typeface="Sora SemiBold" pitchFamily="34" charset="-122"/>
                <a:cs typeface="Sora SemiBold" pitchFamily="34" charset="-120"/>
              </a:rPr>
              <a:t>2</a:t>
            </a:r>
            <a:endParaRPr lang="en-US" sz="1200" dirty="0"/>
          </a:p>
        </p:txBody>
      </p:sp>
      <p:sp>
        <p:nvSpPr>
          <p:cNvPr id="10" name="Text 6"/>
          <p:cNvSpPr/>
          <p:nvPr/>
        </p:nvSpPr>
        <p:spPr>
          <a:xfrm>
            <a:off x="1127196" y="2341463"/>
            <a:ext cx="528495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CO2 – Control Flow</a:t>
            </a:r>
            <a:endParaRPr lang="en-US" sz="1050" dirty="0"/>
          </a:p>
        </p:txBody>
      </p:sp>
      <p:sp>
        <p:nvSpPr>
          <p:cNvPr id="11" name="Text 7"/>
          <p:cNvSpPr/>
          <p:nvPr/>
        </p:nvSpPr>
        <p:spPr>
          <a:xfrm>
            <a:off x="1127196" y="2579886"/>
            <a:ext cx="5284953"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Added intelligence through if-else decisions, switch-based menus, and loops — enabling dynamic, interactive operation</a:t>
            </a:r>
            <a:endParaRPr lang="en-US" sz="8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3038773"/>
            <a:ext cx="5896522" cy="745629"/>
          </a:xfrm>
          <a:prstGeom prst="rect">
            <a:avLst/>
          </a:prstGeom>
        </p:spPr>
      </p:pic>
      <p:sp>
        <p:nvSpPr>
          <p:cNvPr id="13" name="Text 8"/>
          <p:cNvSpPr/>
          <p:nvPr/>
        </p:nvSpPr>
        <p:spPr>
          <a:xfrm>
            <a:off x="771010" y="3314402"/>
            <a:ext cx="155472" cy="194370"/>
          </a:xfrm>
          <a:prstGeom prst="rect">
            <a:avLst/>
          </a:prstGeom>
          <a:noFill/>
          <a:ln/>
        </p:spPr>
        <p:txBody>
          <a:bodyPr wrap="none" lIns="0" tIns="0" rIns="0" bIns="0" rtlCol="0" anchor="ctr"/>
          <a:lstStyle/>
          <a:p>
            <a:pPr algn="ctr" indent="0" marL="0">
              <a:lnSpc>
                <a:spcPct val="100000"/>
              </a:lnSpc>
              <a:buNone/>
            </a:pPr>
            <a:r>
              <a:rPr lang="en-US" sz="1200" dirty="0">
                <a:solidFill>
                  <a:srgbClr val="3B3535"/>
                </a:solidFill>
                <a:latin typeface="Sora SemiBold" pitchFamily="34" charset="0"/>
                <a:ea typeface="Sora SemiBold" pitchFamily="34" charset="-122"/>
                <a:cs typeface="Sora SemiBold" pitchFamily="34" charset="-120"/>
              </a:rPr>
              <a:t>3</a:t>
            </a:r>
            <a:endParaRPr lang="en-US" sz="1200" dirty="0"/>
          </a:p>
        </p:txBody>
      </p:sp>
      <p:sp>
        <p:nvSpPr>
          <p:cNvPr id="14" name="Text 9"/>
          <p:cNvSpPr/>
          <p:nvPr/>
        </p:nvSpPr>
        <p:spPr>
          <a:xfrm>
            <a:off x="1127196" y="3155057"/>
            <a:ext cx="528495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CO3 – Methods &amp; Arrays</a:t>
            </a:r>
            <a:endParaRPr lang="en-US" sz="1050" dirty="0"/>
          </a:p>
        </p:txBody>
      </p:sp>
      <p:sp>
        <p:nvSpPr>
          <p:cNvPr id="15" name="Text 10"/>
          <p:cNvSpPr/>
          <p:nvPr/>
        </p:nvSpPr>
        <p:spPr>
          <a:xfrm>
            <a:off x="1127196" y="3393480"/>
            <a:ext cx="5284953"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Transformed the program into a modular, scalable system using structured fleet data and reusable functions</a:t>
            </a:r>
            <a:endParaRPr lang="en-US" sz="8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3852366"/>
            <a:ext cx="5896522" cy="745629"/>
          </a:xfrm>
          <a:prstGeom prst="rect">
            <a:avLst/>
          </a:prstGeom>
        </p:spPr>
      </p:pic>
      <p:sp>
        <p:nvSpPr>
          <p:cNvPr id="17" name="Text 11"/>
          <p:cNvSpPr/>
          <p:nvPr/>
        </p:nvSpPr>
        <p:spPr>
          <a:xfrm>
            <a:off x="771010" y="4127996"/>
            <a:ext cx="155472" cy="194370"/>
          </a:xfrm>
          <a:prstGeom prst="rect">
            <a:avLst/>
          </a:prstGeom>
          <a:noFill/>
          <a:ln/>
        </p:spPr>
        <p:txBody>
          <a:bodyPr wrap="none" lIns="0" tIns="0" rIns="0" bIns="0" rtlCol="0" anchor="ctr"/>
          <a:lstStyle/>
          <a:p>
            <a:pPr algn="ctr" indent="0" marL="0">
              <a:lnSpc>
                <a:spcPct val="100000"/>
              </a:lnSpc>
              <a:buNone/>
            </a:pPr>
            <a:r>
              <a:rPr lang="en-US" sz="1200" dirty="0">
                <a:solidFill>
                  <a:srgbClr val="3B3535"/>
                </a:solidFill>
                <a:latin typeface="Sora SemiBold" pitchFamily="34" charset="0"/>
                <a:ea typeface="Sora SemiBold" pitchFamily="34" charset="-122"/>
                <a:cs typeface="Sora SemiBold" pitchFamily="34" charset="-120"/>
              </a:rPr>
              <a:t>4</a:t>
            </a:r>
            <a:endParaRPr lang="en-US" sz="1200" dirty="0"/>
          </a:p>
        </p:txBody>
      </p:sp>
      <p:sp>
        <p:nvSpPr>
          <p:cNvPr id="18" name="Text 12"/>
          <p:cNvSpPr/>
          <p:nvPr/>
        </p:nvSpPr>
        <p:spPr>
          <a:xfrm>
            <a:off x="1127196" y="3968651"/>
            <a:ext cx="528495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CO4 – OOP &amp; Exception Handling</a:t>
            </a:r>
            <a:endParaRPr lang="en-US" sz="1050" dirty="0"/>
          </a:p>
        </p:txBody>
      </p:sp>
      <p:sp>
        <p:nvSpPr>
          <p:cNvPr id="19" name="Text 13"/>
          <p:cNvSpPr/>
          <p:nvPr/>
        </p:nvSpPr>
        <p:spPr>
          <a:xfrm>
            <a:off x="1127196" y="4207073"/>
            <a:ext cx="5284953"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Modeled cars as objects, encapsulated behavior, and handled invalid operations without crashing the application</a:t>
            </a:r>
            <a:endParaRPr lang="en-US" sz="80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 y="4665960"/>
            <a:ext cx="5896522" cy="745629"/>
          </a:xfrm>
          <a:prstGeom prst="rect">
            <a:avLst/>
          </a:prstGeom>
        </p:spPr>
      </p:pic>
      <p:sp>
        <p:nvSpPr>
          <p:cNvPr id="21" name="Text 14"/>
          <p:cNvSpPr/>
          <p:nvPr/>
        </p:nvSpPr>
        <p:spPr>
          <a:xfrm>
            <a:off x="771010" y="4941590"/>
            <a:ext cx="155472" cy="194370"/>
          </a:xfrm>
          <a:prstGeom prst="rect">
            <a:avLst/>
          </a:prstGeom>
          <a:noFill/>
          <a:ln/>
        </p:spPr>
        <p:txBody>
          <a:bodyPr wrap="none" lIns="0" tIns="0" rIns="0" bIns="0" rtlCol="0" anchor="ctr"/>
          <a:lstStyle/>
          <a:p>
            <a:pPr algn="ctr" indent="0" marL="0">
              <a:lnSpc>
                <a:spcPct val="100000"/>
              </a:lnSpc>
              <a:buNone/>
            </a:pPr>
            <a:r>
              <a:rPr lang="en-US" sz="1200" dirty="0">
                <a:solidFill>
                  <a:srgbClr val="3B3535"/>
                </a:solidFill>
                <a:latin typeface="Sora SemiBold" pitchFamily="34" charset="0"/>
                <a:ea typeface="Sora SemiBold" pitchFamily="34" charset="-122"/>
                <a:cs typeface="Sora SemiBold" pitchFamily="34" charset="-120"/>
              </a:rPr>
              <a:t>5</a:t>
            </a:r>
            <a:endParaRPr lang="en-US" sz="1200" dirty="0"/>
          </a:p>
        </p:txBody>
      </p:sp>
      <p:sp>
        <p:nvSpPr>
          <p:cNvPr id="22" name="Text 15"/>
          <p:cNvSpPr/>
          <p:nvPr/>
        </p:nvSpPr>
        <p:spPr>
          <a:xfrm>
            <a:off x="1127196" y="4782245"/>
            <a:ext cx="528495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CO5 – Strings, Algorithms &amp; File I/O</a:t>
            </a:r>
            <a:endParaRPr lang="en-US" sz="1050" dirty="0"/>
          </a:p>
        </p:txBody>
      </p:sp>
      <p:sp>
        <p:nvSpPr>
          <p:cNvPr id="23" name="Text 16"/>
          <p:cNvSpPr/>
          <p:nvPr/>
        </p:nvSpPr>
        <p:spPr>
          <a:xfrm>
            <a:off x="1127196" y="5020667"/>
            <a:ext cx="5284953"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Added practical search, sorting, and persistent rental records for a more useful fleet management system</a:t>
            </a:r>
            <a:endParaRPr lang="en-US" sz="80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908" y="5479554"/>
            <a:ext cx="5896522" cy="745629"/>
          </a:xfrm>
          <a:prstGeom prst="rect">
            <a:avLst/>
          </a:prstGeom>
        </p:spPr>
      </p:pic>
      <p:sp>
        <p:nvSpPr>
          <p:cNvPr id="25" name="Text 17"/>
          <p:cNvSpPr/>
          <p:nvPr/>
        </p:nvSpPr>
        <p:spPr>
          <a:xfrm>
            <a:off x="771010" y="5755184"/>
            <a:ext cx="155472" cy="194370"/>
          </a:xfrm>
          <a:prstGeom prst="rect">
            <a:avLst/>
          </a:prstGeom>
          <a:noFill/>
          <a:ln/>
        </p:spPr>
        <p:txBody>
          <a:bodyPr wrap="none" lIns="0" tIns="0" rIns="0" bIns="0" rtlCol="0" anchor="ctr"/>
          <a:lstStyle/>
          <a:p>
            <a:pPr algn="ctr" indent="0" marL="0">
              <a:lnSpc>
                <a:spcPct val="100000"/>
              </a:lnSpc>
              <a:buNone/>
            </a:pPr>
            <a:r>
              <a:rPr lang="en-US" sz="1200" dirty="0">
                <a:solidFill>
                  <a:srgbClr val="3B3535"/>
                </a:solidFill>
                <a:latin typeface="Sora SemiBold" pitchFamily="34" charset="0"/>
                <a:ea typeface="Sora SemiBold" pitchFamily="34" charset="-122"/>
                <a:cs typeface="Sora SemiBold" pitchFamily="34" charset="-120"/>
              </a:rPr>
              <a:t>6</a:t>
            </a:r>
            <a:endParaRPr lang="en-US" sz="1200" dirty="0"/>
          </a:p>
        </p:txBody>
      </p:sp>
      <p:sp>
        <p:nvSpPr>
          <p:cNvPr id="26" name="Text 18"/>
          <p:cNvSpPr/>
          <p:nvPr/>
        </p:nvSpPr>
        <p:spPr>
          <a:xfrm>
            <a:off x="1127196" y="5595838"/>
            <a:ext cx="528495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CO6 – Collections, Lambdas &amp; Streams (Extension)</a:t>
            </a:r>
            <a:endParaRPr lang="en-US" sz="1050" dirty="0"/>
          </a:p>
        </p:txBody>
      </p:sp>
      <p:sp>
        <p:nvSpPr>
          <p:cNvPr id="27" name="Text 19"/>
          <p:cNvSpPr/>
          <p:nvPr/>
        </p:nvSpPr>
        <p:spPr>
          <a:xfrm>
            <a:off x="1127196" y="5834261"/>
            <a:ext cx="5284953"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Extends the project with collections for organized data management, lambda expressions for flexible operations, and streams and collectors for efficient filtering, sorting, and report generation</a:t>
            </a:r>
            <a:endParaRPr lang="en-US" sz="800" dirty="0"/>
          </a:p>
        </p:txBody>
      </p:sp>
      <p:sp>
        <p:nvSpPr>
          <p:cNvPr id="28" name="Text 20"/>
          <p:cNvSpPr/>
          <p:nvPr/>
        </p:nvSpPr>
        <p:spPr>
          <a:xfrm>
            <a:off x="6787583" y="1072192"/>
            <a:ext cx="4778454" cy="170458"/>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Sora SemiBold" pitchFamily="34" charset="0"/>
                <a:ea typeface="Sora SemiBold" pitchFamily="34" charset="-122"/>
                <a:cs typeface="Sora SemiBold" pitchFamily="34" charset="-120"/>
              </a:rPr>
              <a:t>Key Takeaways</a:t>
            </a:r>
            <a:endParaRPr lang="en-US" sz="1050" dirty="0"/>
          </a:p>
        </p:txBody>
      </p:sp>
      <p:sp>
        <p:nvSpPr>
          <p:cNvPr id="29" name="Shape 21"/>
          <p:cNvSpPr/>
          <p:nvPr/>
        </p:nvSpPr>
        <p:spPr>
          <a:xfrm>
            <a:off x="6787583" y="1314152"/>
            <a:ext cx="2355196" cy="870248"/>
          </a:xfrm>
          <a:prstGeom prst="roundRect">
            <a:avLst>
              <a:gd name="adj" fmla="val 5004"/>
            </a:avLst>
          </a:prstGeom>
          <a:solidFill>
            <a:srgbClr val="F9D2D6"/>
          </a:solidFill>
          <a:ln w="6350">
            <a:solidFill>
              <a:srgbClr val="DFB8BC"/>
            </a:solidFill>
            <a:prstDash val="solid"/>
          </a:ln>
        </p:spPr>
      </p:sp>
      <p:sp>
        <p:nvSpPr>
          <p:cNvPr id="30" name="Text 22"/>
          <p:cNvSpPr/>
          <p:nvPr/>
        </p:nvSpPr>
        <p:spPr>
          <a:xfrm>
            <a:off x="6897515" y="1424087"/>
            <a:ext cx="2135333"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Practical Application</a:t>
            </a:r>
            <a:endParaRPr lang="en-US" sz="1050" dirty="0"/>
          </a:p>
        </p:txBody>
      </p:sp>
      <p:sp>
        <p:nvSpPr>
          <p:cNvPr id="31" name="Text 23"/>
          <p:cNvSpPr/>
          <p:nvPr/>
        </p:nvSpPr>
        <p:spPr>
          <a:xfrm>
            <a:off x="6897515" y="1662509"/>
            <a:ext cx="2135333" cy="41195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Java concepts map directly to business logic like booking, billing, fleet tracking, and saved records</a:t>
            </a:r>
            <a:endParaRPr lang="en-US" sz="800" dirty="0"/>
          </a:p>
        </p:txBody>
      </p:sp>
      <p:sp>
        <p:nvSpPr>
          <p:cNvPr id="32" name="Shape 24"/>
          <p:cNvSpPr/>
          <p:nvPr/>
        </p:nvSpPr>
        <p:spPr>
          <a:xfrm>
            <a:off x="9210742" y="1314152"/>
            <a:ext cx="2355295" cy="870248"/>
          </a:xfrm>
          <a:prstGeom prst="roundRect">
            <a:avLst>
              <a:gd name="adj" fmla="val 5004"/>
            </a:avLst>
          </a:prstGeom>
          <a:solidFill>
            <a:srgbClr val="F9D2D6"/>
          </a:solidFill>
          <a:ln w="6350">
            <a:solidFill>
              <a:srgbClr val="DFB8BC"/>
            </a:solidFill>
            <a:prstDash val="solid"/>
          </a:ln>
        </p:spPr>
      </p:sp>
      <p:sp>
        <p:nvSpPr>
          <p:cNvPr id="33" name="Text 25"/>
          <p:cNvSpPr/>
          <p:nvPr/>
        </p:nvSpPr>
        <p:spPr>
          <a:xfrm>
            <a:off x="9320674" y="1424087"/>
            <a:ext cx="2135432"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Incremental Complexity</a:t>
            </a:r>
            <a:endParaRPr lang="en-US" sz="1050" dirty="0"/>
          </a:p>
        </p:txBody>
      </p:sp>
      <p:sp>
        <p:nvSpPr>
          <p:cNvPr id="34" name="Text 26"/>
          <p:cNvSpPr/>
          <p:nvPr/>
        </p:nvSpPr>
        <p:spPr>
          <a:xfrm>
            <a:off x="9320674" y="1662509"/>
            <a:ext cx="2135432" cy="41195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Each CO builds on the previous, mirroring how professional software is developed layer by layer</a:t>
            </a:r>
            <a:endParaRPr lang="en-US" sz="800" dirty="0"/>
          </a:p>
        </p:txBody>
      </p:sp>
      <p:sp>
        <p:nvSpPr>
          <p:cNvPr id="35" name="Shape 27"/>
          <p:cNvSpPr/>
          <p:nvPr/>
        </p:nvSpPr>
        <p:spPr>
          <a:xfrm>
            <a:off x="6787583" y="2252365"/>
            <a:ext cx="4778454" cy="732929"/>
          </a:xfrm>
          <a:prstGeom prst="roundRect">
            <a:avLst>
              <a:gd name="adj" fmla="val 5941"/>
            </a:avLst>
          </a:prstGeom>
          <a:solidFill>
            <a:srgbClr val="F9D2D6"/>
          </a:solidFill>
          <a:ln w="6350">
            <a:solidFill>
              <a:srgbClr val="DFB8BC"/>
            </a:solidFill>
            <a:prstDash val="solid"/>
          </a:ln>
        </p:spPr>
      </p:sp>
      <p:sp>
        <p:nvSpPr>
          <p:cNvPr id="36" name="Text 28"/>
          <p:cNvSpPr/>
          <p:nvPr/>
        </p:nvSpPr>
        <p:spPr>
          <a:xfrm>
            <a:off x="6897515" y="2362299"/>
            <a:ext cx="4558591" cy="17045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Sora SemiBold" pitchFamily="34" charset="0"/>
                <a:ea typeface="Sora SemiBold" pitchFamily="34" charset="-122"/>
                <a:cs typeface="Sora SemiBold" pitchFamily="34" charset="-120"/>
              </a:rPr>
              <a:t>Scalability</a:t>
            </a:r>
            <a:endParaRPr lang="en-US" sz="1050" dirty="0"/>
          </a:p>
        </p:txBody>
      </p:sp>
      <p:sp>
        <p:nvSpPr>
          <p:cNvPr id="37" name="Text 29"/>
          <p:cNvSpPr/>
          <p:nvPr/>
        </p:nvSpPr>
        <p:spPr>
          <a:xfrm>
            <a:off x="6897515" y="2600722"/>
            <a:ext cx="4558591"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Sora Light" pitchFamily="34" charset="0"/>
                <a:ea typeface="Sora Light" pitchFamily="34" charset="-122"/>
                <a:cs typeface="Sora Light" pitchFamily="34" charset="-120"/>
              </a:rPr>
              <a:t>The system can grow toward larger fleets, customer records, databases, and future OOP features</a:t>
            </a:r>
            <a:endParaRPr lang="en-US" sz="800" dirty="0"/>
          </a:p>
        </p:txBody>
      </p:sp>
      <p:sp>
        <p:nvSpPr>
          <p:cNvPr id="38" name="Shape 30"/>
          <p:cNvSpPr/>
          <p:nvPr/>
        </p:nvSpPr>
        <p:spPr>
          <a:xfrm>
            <a:off x="6787583" y="3061791"/>
            <a:ext cx="4778454" cy="448866"/>
          </a:xfrm>
          <a:prstGeom prst="roundRect">
            <a:avLst>
              <a:gd name="adj" fmla="val 9701"/>
            </a:avLst>
          </a:prstGeom>
          <a:solidFill>
            <a:srgbClr val="F9D2D6"/>
          </a:solidFill>
          <a:ln/>
        </p:spPr>
      </p:sp>
      <p:pic>
        <p:nvPicPr>
          <p:cNvPr id="39" name="Image 6" descr="preencoded.png">    </p:cNvPr>
          <p:cNvPicPr>
            <a:picLocks noChangeAspect="1"/>
          </p:cNvPicPr>
          <p:nvPr/>
        </p:nvPicPr>
        <p:blipFill>
          <a:blip r:embed="rId13"/>
          <a:stretch>
            <a:fillRect/>
          </a:stretch>
        </p:blipFill>
        <p:spPr>
          <a:xfrm>
            <a:off x="6891165" y="3166566"/>
            <a:ext cx="129576" cy="103584"/>
          </a:xfrm>
          <a:prstGeom prst="rect">
            <a:avLst/>
          </a:prstGeom>
        </p:spPr>
      </p:pic>
      <p:sp>
        <p:nvSpPr>
          <p:cNvPr id="40" name="Text 31"/>
          <p:cNvSpPr/>
          <p:nvPr/>
        </p:nvSpPr>
        <p:spPr>
          <a:xfrm>
            <a:off x="7124323" y="3149488"/>
            <a:ext cx="4338132" cy="27463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000000"/>
                </a:solidFill>
                <a:latin typeface="Sora Light" pitchFamily="34" charset="0"/>
                <a:ea typeface="Sora Light" pitchFamily="34" charset="-122"/>
                <a:cs typeface="Sora Light" pitchFamily="34" charset="-120"/>
              </a:rPr>
              <a:t>Together, CO1–CO5 provide a foundation for extending the project into a complete object-oriented rental platform.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2026-10-15T10:54:25Z</dcterms:created>
  <dcterms:modified xsi:type="dcterms:W3CDTF">2026-10-15T10:54:25Z</dcterms:modified>
</cp:coreProperties>
</file>